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1" r:id="rId1"/>
    <p:sldMasterId id="2147483682" r:id="rId2"/>
    <p:sldMasterId id="2147483683" r:id="rId3"/>
  </p:sldMasterIdLst>
  <p:notesMasterIdLst>
    <p:notesMasterId r:id="rId6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</p:sldIdLst>
  <p:sldSz cx="2438400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08" y="96"/>
      </p:cViewPr>
      <p:guideLst>
        <p:guide orient="horz" pos="2159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9"/>
        <p:guide pos="28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2" name="Google Shape;3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6" name="Google Shape;4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5" name="Google Shape;4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" name="Google Shape;4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fld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0" name="Google Shape;47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3" name="Google Shape;48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5" name="Google Shape;50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9" name="Google Shape;54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5" name="Google Shape;56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1" name="Google Shape;58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6" name="Google Shape;59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1" name="Google Shape;61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4" name="Google Shape;62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6" name="Google Shape;63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3" name="Google Shape;66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2" name="Google Shape;67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2" name="Google Shape;68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7" name="Google Shape;70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2" name="Google Shape;72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7" name="Google Shape;73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7" name="Google Shape;75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2" name="Google Shape;77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7" name="Google Shape;78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9" name="Google Shape;7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2" name="Google Shape;82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9" name="Google Shape;83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8" name="Google Shape;85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0" name="Google Shape;87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2" name="Google Shape;88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2" name="Google Shape;89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8" name="Google Shape;90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7" name="Google Shape;91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7" name="Google Shape;92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6" name="Google Shape;93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5" name="Google Shape;94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4" name="Google Shape;95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3" name="Google Shape;96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2" name="Google Shape;97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1" name="Google Shape;98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0" name="Google Shape;99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9" name="Google Shape;99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5" name="Google Shape;1015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6" name="Google Shape;1016;p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8" name="Google Shape;1028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0" name="Google Shape;1040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1" name="Google Shape;1041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-KR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3" name="Google Shape;1053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4" name="Google Shape;1054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62</a:t>
            </a:fld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6" name="Google Shape;106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11" name="Google Shape;211;p3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12" name="Google Shape;212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19" name="Google Shape;219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0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8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" y="793115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122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7"/>
          <p:cNvSpPr txBox="1"/>
          <p:nvPr/>
        </p:nvSpPr>
        <p:spPr>
          <a:xfrm>
            <a:off x="2437765" y="6502400"/>
            <a:ext cx="1042670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75" rIns="0" bIns="0" anchor="t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lang="ko-KR" sz="39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System Verilog 검증</a:t>
            </a:r>
            <a:endParaRPr sz="3999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2413000" y="11315700"/>
            <a:ext cx="5715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5" rIns="0" bIns="0" anchor="t" anchorCtr="0">
            <a:noAutofit/>
          </a:bodyPr>
          <a:lstStyle/>
          <a:p>
            <a:pPr marL="0" marR="0" lvl="0" indent="0" algn="l" rtl="0">
              <a:lnSpc>
                <a:spcPct val="1145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r>
              <a:rPr lang="ko-KR" sz="2701" b="0" i="0" u="none" strike="noStrike" cap="none" dirty="0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Harman_2</a:t>
            </a:r>
            <a:r>
              <a:rPr lang="ko-KR" sz="2701" b="0" i="0" u="none" strike="noStrike" cap="none" dirty="0" smtClean="0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기</a:t>
            </a:r>
            <a:r>
              <a:rPr lang="en-US" altLang="ko-KR" sz="2701" dirty="0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sz="2701" b="0" i="0" u="none" strike="noStrike" cap="none" dirty="0" err="1" smtClean="0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이승후</a:t>
            </a:r>
            <a:endParaRPr sz="2701" b="0" i="0" u="none" strike="noStrike" cap="none" dirty="0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21348700" y="12636500"/>
            <a:ext cx="22225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0" marR="0" lvl="0" indent="0" algn="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endParaRPr sz="199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364700" y="11785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7"/>
          <p:cNvSpPr txBox="1"/>
          <p:nvPr/>
        </p:nvSpPr>
        <p:spPr>
          <a:xfrm>
            <a:off x="2413000" y="4191000"/>
            <a:ext cx="18986500" cy="42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3975" rIns="0" bIns="0" anchor="t" anchorCtr="0">
            <a:noAutofit/>
          </a:bodyPr>
          <a:lstStyle/>
          <a:p>
            <a:pPr marL="0" marR="0" lvl="0" indent="0" algn="l" rtl="0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3"/>
              <a:buFont typeface="Arial"/>
              <a:buNone/>
            </a:pPr>
            <a:r>
              <a:rPr lang="ko-KR" sz="13333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Uart_fifo_10000_counter</a:t>
            </a:r>
            <a:endParaRPr sz="13333" b="0" i="0" u="none" strike="noStrike" cap="non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38"/>
          <p:cNvGrpSpPr/>
          <p:nvPr/>
        </p:nvGrpSpPr>
        <p:grpSpPr>
          <a:xfrm>
            <a:off x="-25400" y="762000"/>
            <a:ext cx="24409398" cy="12992100"/>
            <a:chOff x="-25400" y="762000"/>
            <a:chExt cx="24409398" cy="12992100"/>
          </a:xfrm>
        </p:grpSpPr>
        <p:pic>
          <p:nvPicPr>
            <p:cNvPr id="252" name="Google Shape;252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25400" y="6858000"/>
              <a:ext cx="24409398" cy="689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3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25500" y="762000"/>
              <a:ext cx="22720302" cy="122047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4" name="Google Shape;254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88500" y="407670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8"/>
          <p:cNvSpPr txBox="1"/>
          <p:nvPr/>
        </p:nvSpPr>
        <p:spPr>
          <a:xfrm>
            <a:off x="10972800" y="341630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lang="ko-KR" sz="2666" b="0" i="0" u="none" strike="noStrike" cap="non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8"/>
          <p:cNvSpPr txBox="1"/>
          <p:nvPr/>
        </p:nvSpPr>
        <p:spPr>
          <a:xfrm>
            <a:off x="9652000" y="4343400"/>
            <a:ext cx="34290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sz="3066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개요</a:t>
            </a:r>
            <a:endParaRPr sz="3066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82150" y="785495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8"/>
          <p:cNvSpPr txBox="1"/>
          <p:nvPr/>
        </p:nvSpPr>
        <p:spPr>
          <a:xfrm>
            <a:off x="10966450" y="719455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lang="ko-KR" sz="2666" b="0" i="0" u="none" strike="noStrike" cap="non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9607550" y="8121650"/>
            <a:ext cx="35052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Uart_Tx</a:t>
            </a:r>
            <a:endParaRPr sz="3200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68400" y="407670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8"/>
          <p:cNvSpPr txBox="1"/>
          <p:nvPr/>
        </p:nvSpPr>
        <p:spPr>
          <a:xfrm>
            <a:off x="15252700" y="341630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lang="ko-KR" sz="2666" b="0" i="0" u="none" strike="noStrike" cap="non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14160500" y="4343400"/>
            <a:ext cx="29592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endParaRPr sz="3066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62050" y="785495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8"/>
          <p:cNvSpPr txBox="1"/>
          <p:nvPr/>
        </p:nvSpPr>
        <p:spPr>
          <a:xfrm>
            <a:off x="15246350" y="719455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lang="ko-KR" sz="2666" b="0" i="0" u="none" strike="noStrike" cap="non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14154150" y="8121650"/>
            <a:ext cx="29592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sz="3066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sz="3066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148300" y="407670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8"/>
          <p:cNvSpPr txBox="1"/>
          <p:nvPr/>
        </p:nvSpPr>
        <p:spPr>
          <a:xfrm>
            <a:off x="19545300" y="341630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lang="ko-KR" sz="2666" b="0" i="0" u="none" strike="noStrike" cap="non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8"/>
          <p:cNvSpPr txBox="1"/>
          <p:nvPr/>
        </p:nvSpPr>
        <p:spPr>
          <a:xfrm>
            <a:off x="18453100" y="4343400"/>
            <a:ext cx="29592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sz="3066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FIFO</a:t>
            </a:r>
            <a:endParaRPr sz="3066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141950" y="7854950"/>
            <a:ext cx="355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364700" y="11785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8"/>
          <p:cNvSpPr txBox="1"/>
          <p:nvPr/>
        </p:nvSpPr>
        <p:spPr>
          <a:xfrm>
            <a:off x="19538950" y="719455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lang="ko-KR" sz="2666" b="0" i="0" u="none" strike="noStrike" cap="non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18446750" y="8121650"/>
            <a:ext cx="29592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sz="3066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10000_counter simulation</a:t>
            </a:r>
            <a:endParaRPr sz="3066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8"/>
          <p:cNvSpPr txBox="1"/>
          <p:nvPr/>
        </p:nvSpPr>
        <p:spPr>
          <a:xfrm>
            <a:off x="1905000" y="6146800"/>
            <a:ext cx="64008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5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lang="ko-KR" sz="7998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13925550" y="4343400"/>
            <a:ext cx="34290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ko-KR" sz="3600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Uart_Rx</a:t>
            </a:r>
            <a:endParaRPr sz="3600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82150" y="1097280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8"/>
          <p:cNvSpPr txBox="1"/>
          <p:nvPr/>
        </p:nvSpPr>
        <p:spPr>
          <a:xfrm>
            <a:off x="10966450" y="1031240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2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lang="ko-KR" sz="2666" b="0" i="0" u="none" strike="noStrike" cap="non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8"/>
          <p:cNvSpPr txBox="1"/>
          <p:nvPr/>
        </p:nvSpPr>
        <p:spPr>
          <a:xfrm>
            <a:off x="9645650" y="11239500"/>
            <a:ext cx="34290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sz="3066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sz="3066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8"/>
          <p:cNvSpPr txBox="1"/>
          <p:nvPr/>
        </p:nvSpPr>
        <p:spPr>
          <a:xfrm>
            <a:off x="9874150" y="11493400"/>
            <a:ext cx="29592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45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lang="ko-KR" sz="3066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Trouble Shooting</a:t>
            </a:r>
            <a:endParaRPr sz="3066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500" y="2743200"/>
            <a:ext cx="22720302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9"/>
          <p:cNvSpPr txBox="1"/>
          <p:nvPr/>
        </p:nvSpPr>
        <p:spPr>
          <a:xfrm>
            <a:off x="1587500" y="5003800"/>
            <a:ext cx="5054700" cy="1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12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lang="ko-KR" sz="7333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PART 1.</a:t>
            </a:r>
            <a:endParaRPr sz="7333" b="0" i="0" u="none" strike="noStrike" cap="non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9"/>
          <p:cNvSpPr txBox="1"/>
          <p:nvPr/>
        </p:nvSpPr>
        <p:spPr>
          <a:xfrm>
            <a:off x="6502400" y="5003800"/>
            <a:ext cx="90171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lang="ko-KR" sz="7998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개요 </a:t>
            </a:r>
            <a:endParaRPr sz="7998" b="0" i="0" u="none" strike="noStrike" cap="non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0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개요 및  부품스펙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07105" y="3810824"/>
            <a:ext cx="5767528" cy="3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/>
          <p:cNvSpPr txBox="1"/>
          <p:nvPr/>
        </p:nvSpPr>
        <p:spPr>
          <a:xfrm>
            <a:off x="7725411" y="7605525"/>
            <a:ext cx="7386263" cy="4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Verilog를 확장한 언어로, 디지털 회로 설계와 검증을</a:t>
            </a:r>
            <a:r>
              <a:rPr lang="ko-KR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모두 지원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혹은 두 줄 버전: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r>
              <a:rPr lang="ko-K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모듈·인터페이스·자료형 확장으로 복잡한 회로 표현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r>
              <a:rPr lang="ko-K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클래스·OOP·랜덤화로 대규모 칩 검증 지원</a:t>
            </a:r>
            <a:endParaRPr/>
          </a:p>
        </p:txBody>
      </p:sp>
      <p:pic>
        <p:nvPicPr>
          <p:cNvPr id="300" name="Google Shape;300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602180" y="3323968"/>
            <a:ext cx="6528772" cy="381267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0"/>
          <p:cNvSpPr/>
          <p:nvPr/>
        </p:nvSpPr>
        <p:spPr>
          <a:xfrm>
            <a:off x="2529929" y="7779352"/>
            <a:ext cx="4369983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개요 </a:t>
            </a:r>
            <a:r>
              <a:rPr lang="ko-KR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systemverilog로 uart를 verification진행하고 stopwatch가 제대로 동작을 하는 지 검증을 해보는 프로젝트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0"/>
          <p:cNvSpPr/>
          <p:nvPr/>
        </p:nvSpPr>
        <p:spPr>
          <a:xfrm>
            <a:off x="15543474" y="7759617"/>
            <a:ext cx="7379156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UART 통신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ko-K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의미</a:t>
            </a:r>
            <a:r>
              <a:rPr lang="ko-K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Universal Asynchronous Receiver/Transmitter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ko-K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방식</a:t>
            </a:r>
            <a:r>
              <a:rPr lang="ko-K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Tx, Rx 두 선과 GND만으로 직렬 데이터 전송 </a:t>
            </a:r>
            <a:r>
              <a:rPr lang="ko-K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프레임 구조</a:t>
            </a:r>
            <a:r>
              <a:rPr lang="ko-K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시작 비트 → 데이터 비트→ 패리티→ 정지 비트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ko-K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특징</a:t>
            </a:r>
            <a:r>
              <a:rPr lang="ko-K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구조 단순, 구현 쉬움 → 임베디드/센서/MCU 통신에 널리 활용</a:t>
            </a:r>
            <a:endParaRPr/>
          </a:p>
        </p:txBody>
      </p:sp>
      <p:pic>
        <p:nvPicPr>
          <p:cNvPr id="303" name="Google Shape;303;p40"/>
          <p:cNvPicPr preferRelativeResize="0"/>
          <p:nvPr/>
        </p:nvPicPr>
        <p:blipFill rotWithShape="1">
          <a:blip r:embed="rId8">
            <a:alphaModFix/>
          </a:blip>
          <a:srcRect r="49786" b="15753"/>
          <a:stretch/>
        </p:blipFill>
        <p:spPr>
          <a:xfrm>
            <a:off x="1877872" y="3856649"/>
            <a:ext cx="5101686" cy="3085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500" y="2743200"/>
            <a:ext cx="22720302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24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 txBox="1"/>
          <p:nvPr/>
        </p:nvSpPr>
        <p:spPr>
          <a:xfrm>
            <a:off x="67818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1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4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235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1"/>
          <p:cNvSpPr txBox="1"/>
          <p:nvPr/>
        </p:nvSpPr>
        <p:spPr>
          <a:xfrm>
            <a:off x="105156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2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4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446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1"/>
          <p:cNvSpPr txBox="1"/>
          <p:nvPr/>
        </p:nvSpPr>
        <p:spPr>
          <a:xfrm>
            <a:off x="142367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3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4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1"/>
          <p:cNvSpPr txBox="1"/>
          <p:nvPr/>
        </p:nvSpPr>
        <p:spPr>
          <a:xfrm>
            <a:off x="1587500" y="5003800"/>
            <a:ext cx="5054700" cy="1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12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lang="ko-KR" sz="7333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PART 2.</a:t>
            </a:r>
            <a:endParaRPr sz="7333" b="0" i="0" u="none" strike="noStrike" cap="non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1"/>
          <p:cNvSpPr txBox="1"/>
          <p:nvPr/>
        </p:nvSpPr>
        <p:spPr>
          <a:xfrm>
            <a:off x="6502400" y="5003800"/>
            <a:ext cx="90171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lang="ko-KR" sz="7998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sz="7998" b="0" i="0" u="none" strike="noStrike" cap="non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2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98"/>
              <a:buFont typeface="Arial"/>
              <a:buNone/>
            </a:pPr>
            <a:r>
              <a:rPr lang="ko-KR" sz="549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sz="549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33600" y="10541000"/>
            <a:ext cx="3187700" cy="8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2"/>
          <p:cNvSpPr txBox="1"/>
          <p:nvPr/>
        </p:nvSpPr>
        <p:spPr>
          <a:xfrm>
            <a:off x="2425700" y="10744200"/>
            <a:ext cx="2603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핵심</a:t>
            </a: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42" title="uart_fsm_cod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85900" y="2565401"/>
            <a:ext cx="5579350" cy="1016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2" title="uart_rx_블록다이어그램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21525" y="1054107"/>
            <a:ext cx="15737044" cy="116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3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lang="ko-KR" sz="549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sz="549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43" title="테스트벤치시나리오_블록다이어 그렘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2400" y="2004580"/>
            <a:ext cx="14241075" cy="105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4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lang="ko-KR" sz="549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sz="549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44" title="uart_rx_시뮬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16478" y="3429000"/>
            <a:ext cx="20292799" cy="46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lang="ko-KR" sz="549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sz="549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45" title="uart_rx_시뮬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5900" y="3835754"/>
            <a:ext cx="21696849" cy="51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6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lang="ko-KR" sz="549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sz="549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4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0176" y="3128176"/>
            <a:ext cx="7587450" cy="787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4375" y="4953038"/>
            <a:ext cx="15324599" cy="42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500" y="2743200"/>
            <a:ext cx="22720302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24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7"/>
          <p:cNvSpPr txBox="1"/>
          <p:nvPr/>
        </p:nvSpPr>
        <p:spPr>
          <a:xfrm>
            <a:off x="67818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1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235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7"/>
          <p:cNvSpPr txBox="1"/>
          <p:nvPr/>
        </p:nvSpPr>
        <p:spPr>
          <a:xfrm>
            <a:off x="105156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2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446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7"/>
          <p:cNvSpPr txBox="1"/>
          <p:nvPr/>
        </p:nvSpPr>
        <p:spPr>
          <a:xfrm>
            <a:off x="142367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3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4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7"/>
          <p:cNvSpPr txBox="1"/>
          <p:nvPr/>
        </p:nvSpPr>
        <p:spPr>
          <a:xfrm>
            <a:off x="1587500" y="5003800"/>
            <a:ext cx="5054700" cy="1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12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lang="ko-KR" sz="7333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PART 3.</a:t>
            </a:r>
            <a:endParaRPr sz="7333" b="0" i="0" u="none" strike="noStrike" cap="non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7"/>
          <p:cNvSpPr txBox="1"/>
          <p:nvPr/>
        </p:nvSpPr>
        <p:spPr>
          <a:xfrm>
            <a:off x="6502400" y="5003800"/>
            <a:ext cx="90171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lang="ko-KR" sz="7998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sz="7998" b="0" i="0" u="none" strike="noStrike" cap="non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8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48" title="fifo_블록다이어그램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19603" y="2649775"/>
            <a:ext cx="13369300" cy="926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9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endParaRPr sz="549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49" title="fifo_블록다이어그램 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674107" y="2565407"/>
            <a:ext cx="8256162" cy="92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9" title="테스트벤치시나리오_블록다이어 그렘.drawi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5425" y="2701001"/>
            <a:ext cx="12307799" cy="91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0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50" title="fifo_시뮬레이션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49863" y="4400667"/>
            <a:ext cx="21496976" cy="49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1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51" title="fifo_시뮬레이션 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22875" y="4503779"/>
            <a:ext cx="21308000" cy="470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2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52" title="fifo_시뮬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5900" y="4635625"/>
            <a:ext cx="21444725" cy="509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3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9975" y="2565404"/>
            <a:ext cx="7226075" cy="981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84348" y="4372650"/>
            <a:ext cx="15479501" cy="49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500" y="2743200"/>
            <a:ext cx="227203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24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4"/>
          <p:cNvSpPr txBox="1"/>
          <p:nvPr/>
        </p:nvSpPr>
        <p:spPr>
          <a:xfrm>
            <a:off x="6781800" y="8509000"/>
            <a:ext cx="30226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Code review</a:t>
            </a:r>
            <a:endParaRPr sz="2399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p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235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4"/>
          <p:cNvSpPr txBox="1"/>
          <p:nvPr/>
        </p:nvSpPr>
        <p:spPr>
          <a:xfrm>
            <a:off x="10515600" y="8509000"/>
            <a:ext cx="30226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sz="2399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2" name="Google Shape;452;p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446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4"/>
          <p:cNvSpPr txBox="1"/>
          <p:nvPr/>
        </p:nvSpPr>
        <p:spPr>
          <a:xfrm>
            <a:off x="14236700" y="8509000"/>
            <a:ext cx="30226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TSL_CONSLOLE</a:t>
            </a:r>
            <a:endParaRPr sz="2399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4"/>
          <p:cNvSpPr txBox="1"/>
          <p:nvPr/>
        </p:nvSpPr>
        <p:spPr>
          <a:xfrm>
            <a:off x="1587500" y="5003800"/>
            <a:ext cx="5054600" cy="1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12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lang="ko-KR" sz="7333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PART 4.</a:t>
            </a:r>
            <a:endParaRPr sz="7333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4"/>
          <p:cNvSpPr txBox="1"/>
          <p:nvPr/>
        </p:nvSpPr>
        <p:spPr>
          <a:xfrm>
            <a:off x="6502400" y="5003800"/>
            <a:ext cx="9017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lang="ko-KR" sz="7998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UART_TX</a:t>
            </a:r>
            <a:endParaRPr sz="7998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5565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5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19800" y="2895600"/>
            <a:ext cx="12088912" cy="8202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8007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6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6"/>
          <p:cNvSpPr/>
          <p:nvPr/>
        </p:nvSpPr>
        <p:spPr>
          <a:xfrm>
            <a:off x="10213669" y="6528771"/>
            <a:ext cx="1557514" cy="94154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32988" y="4632040"/>
            <a:ext cx="7740526" cy="518452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6"/>
          <p:cNvSpPr/>
          <p:nvPr/>
        </p:nvSpPr>
        <p:spPr>
          <a:xfrm>
            <a:off x="12160765" y="5932742"/>
            <a:ext cx="10515600" cy="213360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6"/>
          <p:cNvSpPr txBox="1"/>
          <p:nvPr/>
        </p:nvSpPr>
        <p:spPr>
          <a:xfrm>
            <a:off x="12503665" y="6687073"/>
            <a:ext cx="98298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DUT와 Testbench를 연결해주는 통합 케이블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7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3000" y="4114800"/>
            <a:ext cx="11602790" cy="6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7"/>
          <p:cNvSpPr/>
          <p:nvPr/>
        </p:nvSpPr>
        <p:spPr>
          <a:xfrm>
            <a:off x="7123447" y="4677076"/>
            <a:ext cx="1905000" cy="7413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1" name="Google Shape;491;p57"/>
          <p:cNvGrpSpPr/>
          <p:nvPr/>
        </p:nvGrpSpPr>
        <p:grpSpPr>
          <a:xfrm>
            <a:off x="10020300" y="4483100"/>
            <a:ext cx="9305969" cy="1689100"/>
            <a:chOff x="10020300" y="4483100"/>
            <a:chExt cx="9305969" cy="1689100"/>
          </a:xfrm>
        </p:grpSpPr>
        <p:sp>
          <p:nvSpPr>
            <p:cNvPr id="492" name="Google Shape;492;p57"/>
            <p:cNvSpPr/>
            <p:nvPr/>
          </p:nvSpPr>
          <p:spPr>
            <a:xfrm>
              <a:off x="10020300" y="4483100"/>
              <a:ext cx="8267700" cy="1689100"/>
            </a:xfrm>
            <a:prstGeom prst="roundRect">
              <a:avLst>
                <a:gd name="adj" fmla="val 16667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57"/>
            <p:cNvSpPr txBox="1"/>
            <p:nvPr/>
          </p:nvSpPr>
          <p:spPr>
            <a:xfrm>
              <a:off x="10638216" y="4734577"/>
              <a:ext cx="8688053" cy="1200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lang="ko-KR" sz="3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Random 값을 받아오는 data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lang="ko-KR" sz="3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Mon, Scb 데이터 저장공간</a:t>
              </a:r>
              <a:endPara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4" name="Google Shape;494;p57"/>
          <p:cNvSpPr/>
          <p:nvPr/>
        </p:nvSpPr>
        <p:spPr>
          <a:xfrm>
            <a:off x="1658602" y="4800600"/>
            <a:ext cx="4429795" cy="914400"/>
          </a:xfrm>
          <a:prstGeom prst="frame">
            <a:avLst>
              <a:gd name="adj1" fmla="val 4778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7"/>
          <p:cNvSpPr/>
          <p:nvPr/>
        </p:nvSpPr>
        <p:spPr>
          <a:xfrm>
            <a:off x="1485900" y="7556500"/>
            <a:ext cx="11163300" cy="3035300"/>
          </a:xfrm>
          <a:prstGeom prst="frame">
            <a:avLst>
              <a:gd name="adj1" fmla="val 2335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7"/>
          <p:cNvSpPr/>
          <p:nvPr/>
        </p:nvSpPr>
        <p:spPr>
          <a:xfrm>
            <a:off x="12136190" y="8703469"/>
            <a:ext cx="1905000" cy="7413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7" name="Google Shape;497;p57"/>
          <p:cNvGrpSpPr/>
          <p:nvPr/>
        </p:nvGrpSpPr>
        <p:grpSpPr>
          <a:xfrm>
            <a:off x="14264780" y="8229600"/>
            <a:ext cx="9517310" cy="1689100"/>
            <a:chOff x="10020300" y="4483100"/>
            <a:chExt cx="9517310" cy="1689100"/>
          </a:xfrm>
        </p:grpSpPr>
        <p:sp>
          <p:nvSpPr>
            <p:cNvPr id="498" name="Google Shape;498;p57"/>
            <p:cNvSpPr/>
            <p:nvPr/>
          </p:nvSpPr>
          <p:spPr>
            <a:xfrm>
              <a:off x="10020300" y="4483100"/>
              <a:ext cx="8267700" cy="1689100"/>
            </a:xfrm>
            <a:prstGeom prst="roundRect">
              <a:avLst>
                <a:gd name="adj" fmla="val 16667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57"/>
            <p:cNvSpPr txBox="1"/>
            <p:nvPr/>
          </p:nvSpPr>
          <p:spPr>
            <a:xfrm>
              <a:off x="10849557" y="4957687"/>
              <a:ext cx="8688053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Malgun Gothic"/>
                <a:buNone/>
              </a:pPr>
              <a:r>
                <a:rPr lang="ko-KR" sz="40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Simulation Console 창 출력 </a:t>
              </a:r>
              <a:endParaRPr sz="4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00" name="Google Shape;500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36906" y="4362160"/>
            <a:ext cx="5485894" cy="263109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7"/>
          <p:cNvSpPr/>
          <p:nvPr/>
        </p:nvSpPr>
        <p:spPr>
          <a:xfrm>
            <a:off x="19920054" y="4542155"/>
            <a:ext cx="2006663" cy="2044700"/>
          </a:xfrm>
          <a:prstGeom prst="frame">
            <a:avLst>
              <a:gd name="adj1" fmla="val 2335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8" descr="C:/Users/심재훈/AppData/Roaming/PolarisOffice/ETemp/22012_14482520/image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215" y="562610"/>
            <a:ext cx="22720935" cy="1220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8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58" descr="C:/Users/심재훈/AppData/Roaming/PolarisOffice/ETemp/22012_14482520/image20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8440" y="3409950"/>
            <a:ext cx="8712835" cy="785241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8"/>
          <p:cNvSpPr/>
          <p:nvPr/>
        </p:nvSpPr>
        <p:spPr>
          <a:xfrm>
            <a:off x="1416685" y="3321685"/>
            <a:ext cx="5008880" cy="1836420"/>
          </a:xfrm>
          <a:prstGeom prst="frame">
            <a:avLst>
              <a:gd name="adj1" fmla="val 4778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58"/>
          <p:cNvSpPr/>
          <p:nvPr/>
        </p:nvSpPr>
        <p:spPr>
          <a:xfrm>
            <a:off x="7274560" y="3809365"/>
            <a:ext cx="3500755" cy="9931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14" name="Google Shape;514;p58"/>
          <p:cNvGrpSpPr/>
          <p:nvPr/>
        </p:nvGrpSpPr>
        <p:grpSpPr>
          <a:xfrm>
            <a:off x="11153775" y="3409315"/>
            <a:ext cx="5530850" cy="1677670"/>
            <a:chOff x="11153775" y="3409315"/>
            <a:chExt cx="5530850" cy="1677670"/>
          </a:xfrm>
        </p:grpSpPr>
        <p:sp>
          <p:nvSpPr>
            <p:cNvPr id="515" name="Google Shape;515;p58"/>
            <p:cNvSpPr/>
            <p:nvPr/>
          </p:nvSpPr>
          <p:spPr>
            <a:xfrm>
              <a:off x="11153775" y="3409315"/>
              <a:ext cx="5530850" cy="1677670"/>
            </a:xfrm>
            <a:prstGeom prst="roundRect">
              <a:avLst>
                <a:gd name="adj" fmla="val 16667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6" name="Google Shape;516;p58"/>
            <p:cNvSpPr txBox="1"/>
            <p:nvPr/>
          </p:nvSpPr>
          <p:spPr>
            <a:xfrm>
              <a:off x="11398885" y="3764280"/>
              <a:ext cx="5151755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Malgun Gothic"/>
                <a:buNone/>
              </a:pPr>
              <a:r>
                <a:rPr lang="ko-KR" sz="30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객체를 담을 핸들 tr 선언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Malgun Gothic"/>
                <a:buNone/>
              </a:pPr>
              <a:r>
                <a:rPr lang="ko-KR" sz="30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Mailbox로 gen과 drv를 연결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" name="Google Shape;517;p58"/>
          <p:cNvSpPr/>
          <p:nvPr/>
        </p:nvSpPr>
        <p:spPr>
          <a:xfrm>
            <a:off x="1440180" y="6619875"/>
            <a:ext cx="6953885" cy="4667885"/>
          </a:xfrm>
          <a:prstGeom prst="frame">
            <a:avLst>
              <a:gd name="adj1" fmla="val 1531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58"/>
          <p:cNvSpPr/>
          <p:nvPr/>
        </p:nvSpPr>
        <p:spPr>
          <a:xfrm>
            <a:off x="8679815" y="8072120"/>
            <a:ext cx="2619375" cy="9931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19" name="Google Shape;519;p58"/>
          <p:cNvGrpSpPr/>
          <p:nvPr/>
        </p:nvGrpSpPr>
        <p:grpSpPr>
          <a:xfrm>
            <a:off x="11581130" y="7731125"/>
            <a:ext cx="9397365" cy="1746885"/>
            <a:chOff x="11581130" y="7731125"/>
            <a:chExt cx="9397365" cy="1746885"/>
          </a:xfrm>
        </p:grpSpPr>
        <p:sp>
          <p:nvSpPr>
            <p:cNvPr id="520" name="Google Shape;520;p58"/>
            <p:cNvSpPr/>
            <p:nvPr/>
          </p:nvSpPr>
          <p:spPr>
            <a:xfrm>
              <a:off x="11581130" y="7731125"/>
              <a:ext cx="8981440" cy="1746885"/>
            </a:xfrm>
            <a:prstGeom prst="roundRect">
              <a:avLst>
                <a:gd name="adj" fmla="val 16667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1" name="Google Shape;521;p58"/>
            <p:cNvSpPr txBox="1"/>
            <p:nvPr/>
          </p:nvSpPr>
          <p:spPr>
            <a:xfrm>
              <a:off x="11968326" y="8307100"/>
              <a:ext cx="9010169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algun Gothic"/>
                <a:buNone/>
              </a:pPr>
              <a:r>
                <a:rPr lang="ko-KR" sz="2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지정된 횟수만큼 tr 생성해 Mailbox로 Driver에 전달</a:t>
              </a:r>
              <a:endParaRPr sz="2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22" name="Google Shape;522;p5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271420" y="4566944"/>
            <a:ext cx="5485894" cy="263109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8"/>
          <p:cNvSpPr/>
          <p:nvPr/>
        </p:nvSpPr>
        <p:spPr>
          <a:xfrm>
            <a:off x="20609148" y="4685520"/>
            <a:ext cx="2006663" cy="2044700"/>
          </a:xfrm>
          <a:prstGeom prst="frame">
            <a:avLst>
              <a:gd name="adj1" fmla="val 2335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9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5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09800" y="2565400"/>
            <a:ext cx="6934200" cy="1027303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9"/>
          <p:cNvSpPr txBox="1"/>
          <p:nvPr/>
        </p:nvSpPr>
        <p:spPr>
          <a:xfrm>
            <a:off x="9525000" y="1488440"/>
            <a:ext cx="4572635" cy="83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4" name="Google Shape;534;p59"/>
          <p:cNvSpPr/>
          <p:nvPr/>
        </p:nvSpPr>
        <p:spPr>
          <a:xfrm>
            <a:off x="2320290" y="5191125"/>
            <a:ext cx="4812030" cy="2798445"/>
          </a:xfrm>
          <a:prstGeom prst="frame">
            <a:avLst>
              <a:gd name="adj1" fmla="val 3439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9"/>
          <p:cNvSpPr/>
          <p:nvPr/>
        </p:nvSpPr>
        <p:spPr>
          <a:xfrm>
            <a:off x="7346950" y="5297805"/>
            <a:ext cx="2820035" cy="120777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" name="Google Shape;536;p59"/>
          <p:cNvGrpSpPr/>
          <p:nvPr/>
        </p:nvGrpSpPr>
        <p:grpSpPr>
          <a:xfrm>
            <a:off x="10708503" y="5484198"/>
            <a:ext cx="8981440" cy="1570673"/>
            <a:chOff x="10795000" y="5194935"/>
            <a:chExt cx="8981440" cy="1746885"/>
          </a:xfrm>
        </p:grpSpPr>
        <p:sp>
          <p:nvSpPr>
            <p:cNvPr id="537" name="Google Shape;537;p59"/>
            <p:cNvSpPr/>
            <p:nvPr/>
          </p:nvSpPr>
          <p:spPr>
            <a:xfrm>
              <a:off x="10795000" y="5194935"/>
              <a:ext cx="8981440" cy="1746885"/>
            </a:xfrm>
            <a:prstGeom prst="roundRect">
              <a:avLst>
                <a:gd name="adj" fmla="val 16667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59"/>
            <p:cNvSpPr txBox="1"/>
            <p:nvPr/>
          </p:nvSpPr>
          <p:spPr>
            <a:xfrm>
              <a:off x="11302794" y="5431785"/>
              <a:ext cx="816356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algun Gothic"/>
                <a:buNone/>
              </a:pPr>
              <a:r>
                <a:rPr lang="ko-KR" sz="2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Dut 초기화를 위해 rst = 1 및 나머지 신호도 초기화</a:t>
              </a:r>
              <a:endPara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algun Gothic"/>
                <a:buNone/>
              </a:pPr>
              <a:r>
                <a:rPr lang="ko-KR" sz="28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Clk 두번 기다린 후 rst해제 및 출력메세지</a:t>
              </a:r>
              <a:endParaRPr sz="2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39" name="Google Shape;539;p59"/>
          <p:cNvSpPr/>
          <p:nvPr/>
        </p:nvSpPr>
        <p:spPr>
          <a:xfrm>
            <a:off x="2320290" y="7989570"/>
            <a:ext cx="6431280" cy="4358005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9"/>
          <p:cNvSpPr/>
          <p:nvPr/>
        </p:nvSpPr>
        <p:spPr>
          <a:xfrm>
            <a:off x="8895080" y="9489440"/>
            <a:ext cx="2820035" cy="120777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1" name="Google Shape;541;p59"/>
          <p:cNvGrpSpPr/>
          <p:nvPr/>
        </p:nvGrpSpPr>
        <p:grpSpPr>
          <a:xfrm>
            <a:off x="12009755" y="9219565"/>
            <a:ext cx="8981440" cy="3469640"/>
            <a:chOff x="12009755" y="9219565"/>
            <a:chExt cx="8981440" cy="3469640"/>
          </a:xfrm>
        </p:grpSpPr>
        <p:sp>
          <p:nvSpPr>
            <p:cNvPr id="542" name="Google Shape;542;p59"/>
            <p:cNvSpPr/>
            <p:nvPr/>
          </p:nvSpPr>
          <p:spPr>
            <a:xfrm>
              <a:off x="12009755" y="9219565"/>
              <a:ext cx="8981440" cy="1746885"/>
            </a:xfrm>
            <a:prstGeom prst="roundRect">
              <a:avLst>
                <a:gd name="adj" fmla="val 16667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59"/>
            <p:cNvSpPr txBox="1"/>
            <p:nvPr/>
          </p:nvSpPr>
          <p:spPr>
            <a:xfrm>
              <a:off x="12494895" y="9397365"/>
              <a:ext cx="8163560" cy="3291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ko-KR" sz="26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Mailbox에서 tr 수신</a:t>
              </a:r>
              <a:endPara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ko-KR" sz="26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DUT에 tx_data전달 및 tx_start신호 발생</a:t>
              </a:r>
              <a:endPara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ko-KR" sz="26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tx_busy신호로 전송 완료 확인</a:t>
              </a:r>
              <a:endPara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0"/>
                <a:buFont typeface="Calibri"/>
                <a:buNone/>
              </a:pPr>
              <a:endParaRPr sz="13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44" name="Google Shape;544;p5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198350" y="2619269"/>
            <a:ext cx="5485894" cy="263109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9"/>
          <p:cNvSpPr/>
          <p:nvPr/>
        </p:nvSpPr>
        <p:spPr>
          <a:xfrm>
            <a:off x="12009755" y="3212757"/>
            <a:ext cx="2682429" cy="399705"/>
          </a:xfrm>
          <a:prstGeom prst="frame">
            <a:avLst>
              <a:gd name="adj1" fmla="val 2335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9"/>
          <p:cNvSpPr/>
          <p:nvPr/>
        </p:nvSpPr>
        <p:spPr>
          <a:xfrm>
            <a:off x="13101269" y="3648392"/>
            <a:ext cx="3938699" cy="338138"/>
          </a:xfrm>
          <a:prstGeom prst="frame">
            <a:avLst>
              <a:gd name="adj1" fmla="val 2335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417" y="75565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60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60"/>
          <p:cNvSpPr/>
          <p:nvPr/>
        </p:nvSpPr>
        <p:spPr>
          <a:xfrm>
            <a:off x="10336530" y="7048500"/>
            <a:ext cx="2820035" cy="11722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6" name="Google Shape;556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06600" y="3200400"/>
            <a:ext cx="8126095" cy="825944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60"/>
          <p:cNvSpPr/>
          <p:nvPr/>
        </p:nvSpPr>
        <p:spPr>
          <a:xfrm>
            <a:off x="1892935" y="5846445"/>
            <a:ext cx="8215630" cy="5667375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8" name="Google Shape;558;p60"/>
          <p:cNvGrpSpPr/>
          <p:nvPr/>
        </p:nvGrpSpPr>
        <p:grpSpPr>
          <a:xfrm>
            <a:off x="13390880" y="6945630"/>
            <a:ext cx="8981440" cy="1746885"/>
            <a:chOff x="13390880" y="6945630"/>
            <a:chExt cx="8981440" cy="1746885"/>
          </a:xfrm>
        </p:grpSpPr>
        <p:sp>
          <p:nvSpPr>
            <p:cNvPr id="559" name="Google Shape;559;p60"/>
            <p:cNvSpPr/>
            <p:nvPr/>
          </p:nvSpPr>
          <p:spPr>
            <a:xfrm>
              <a:off x="13390880" y="6945630"/>
              <a:ext cx="8981440" cy="1746885"/>
            </a:xfrm>
            <a:prstGeom prst="roundRect">
              <a:avLst>
                <a:gd name="adj" fmla="val 16667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60"/>
            <p:cNvSpPr txBox="1"/>
            <p:nvPr/>
          </p:nvSpPr>
          <p:spPr>
            <a:xfrm>
              <a:off x="13900150" y="7123430"/>
              <a:ext cx="8163560" cy="1198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algun Gothic"/>
                <a:buNone/>
              </a:pPr>
              <a:r>
                <a:rPr lang="ko-KR" sz="2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Negedge -&gt; start bit 감지</a:t>
              </a:r>
              <a:br>
                <a:rPr lang="ko-KR" sz="2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2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Start bit 이후 절반 지점에서 맞춰 8비트 데이터 수집</a:t>
              </a:r>
              <a:endPara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algun Gothic"/>
                <a:buNone/>
              </a:pPr>
              <a:r>
                <a:rPr lang="ko-KR" sz="24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마지막 주기 동안 대기 후 scorboard로 전달</a:t>
              </a:r>
              <a:endPara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61" name="Google Shape;561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811009" y="3215350"/>
            <a:ext cx="5485894" cy="263109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60"/>
          <p:cNvSpPr/>
          <p:nvPr/>
        </p:nvSpPr>
        <p:spPr>
          <a:xfrm>
            <a:off x="14778681" y="4646141"/>
            <a:ext cx="4422139" cy="333632"/>
          </a:xfrm>
          <a:prstGeom prst="frame">
            <a:avLst>
              <a:gd name="adj1" fmla="val 2335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61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61"/>
          <p:cNvSpPr/>
          <p:nvPr/>
        </p:nvSpPr>
        <p:spPr>
          <a:xfrm>
            <a:off x="10370185" y="8343900"/>
            <a:ext cx="2098675" cy="9436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61"/>
          <p:cNvSpPr/>
          <p:nvPr/>
        </p:nvSpPr>
        <p:spPr>
          <a:xfrm>
            <a:off x="13276580" y="8488680"/>
            <a:ext cx="8981440" cy="1746885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61"/>
          <p:cNvSpPr txBox="1"/>
          <p:nvPr/>
        </p:nvSpPr>
        <p:spPr>
          <a:xfrm>
            <a:off x="13086801" y="8988020"/>
            <a:ext cx="936099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ko-KR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Mon에서 받은 rdata와 dut에서 받은 expected_data가 같은지 비교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ko-KR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일치하면 pass_Count + 1 아닐 시 fail_Count + 1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4" name="Google Shape;574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46250" y="3051175"/>
            <a:ext cx="8516620" cy="874522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61"/>
          <p:cNvSpPr/>
          <p:nvPr/>
        </p:nvSpPr>
        <p:spPr>
          <a:xfrm>
            <a:off x="1685925" y="6684645"/>
            <a:ext cx="8401685" cy="5212715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6" name="Google Shape;576;p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638014" y="4274212"/>
            <a:ext cx="5485894" cy="263109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61"/>
          <p:cNvSpPr/>
          <p:nvPr/>
        </p:nvSpPr>
        <p:spPr>
          <a:xfrm>
            <a:off x="14580973" y="6070600"/>
            <a:ext cx="4422139" cy="333632"/>
          </a:xfrm>
          <a:prstGeom prst="frame">
            <a:avLst>
              <a:gd name="adj1" fmla="val 2335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1"/>
          <p:cNvSpPr/>
          <p:nvPr/>
        </p:nvSpPr>
        <p:spPr>
          <a:xfrm>
            <a:off x="13513435" y="6437691"/>
            <a:ext cx="5367689" cy="333632"/>
          </a:xfrm>
          <a:prstGeom prst="frame">
            <a:avLst>
              <a:gd name="adj1" fmla="val 2335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62" descr="C:/Users/심재훈/AppData/Roaming/PolarisOffice/ETemp/22012_14482520/image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135" y="762000"/>
            <a:ext cx="22720935" cy="1220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2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2"/>
          <p:cNvSpPr/>
          <p:nvPr/>
        </p:nvSpPr>
        <p:spPr>
          <a:xfrm>
            <a:off x="8282940" y="8488680"/>
            <a:ext cx="261112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8" name="Google Shape;588;p62" descr="C:/Users/심재훈/AppData/Roaming/PolarisOffice/ETemp/22012_14482520/image24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95070" y="2823845"/>
            <a:ext cx="6335395" cy="8831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62" descr="C:/Users/심재훈/AppData/Roaming/PolarisOffice/ETemp/22012_14482520/image25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29830" y="2823845"/>
            <a:ext cx="5982970" cy="336359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2"/>
          <p:cNvSpPr/>
          <p:nvPr/>
        </p:nvSpPr>
        <p:spPr>
          <a:xfrm>
            <a:off x="11061700" y="7750810"/>
            <a:ext cx="10453370" cy="254889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2"/>
          <p:cNvSpPr txBox="1"/>
          <p:nvPr/>
        </p:nvSpPr>
        <p:spPr>
          <a:xfrm>
            <a:off x="11518125" y="8222477"/>
            <a:ext cx="9777730" cy="184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Generator / Driver / Monitor / Scoreboard를 연결하고 전체 테스트벤치 환경 구성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Mailbox와 Event로 각 컴포넌트 간 데이터와 동기화 관리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Reset, Run, Report 기능 제공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62"/>
          <p:cNvSpPr/>
          <p:nvPr/>
        </p:nvSpPr>
        <p:spPr>
          <a:xfrm rot="3540000">
            <a:off x="10300335" y="6172835"/>
            <a:ext cx="2461895" cy="1072515"/>
          </a:xfrm>
          <a:prstGeom prst="rightArrow">
            <a:avLst>
              <a:gd name="adj1" fmla="val 50000"/>
              <a:gd name="adj2" fmla="val 55983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3" name="Google Shape;593;p6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42015" y="2188822"/>
            <a:ext cx="5653078" cy="5027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546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63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2" name="Google Shape;602;p63"/>
          <p:cNvGrpSpPr/>
          <p:nvPr/>
        </p:nvGrpSpPr>
        <p:grpSpPr>
          <a:xfrm>
            <a:off x="2006600" y="3839008"/>
            <a:ext cx="20264711" cy="4649393"/>
            <a:chOff x="1994243" y="4594747"/>
            <a:chExt cx="20264711" cy="4649393"/>
          </a:xfrm>
        </p:grpSpPr>
        <p:pic>
          <p:nvPicPr>
            <p:cNvPr id="603" name="Google Shape;603;p6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94243" y="4594747"/>
              <a:ext cx="20264711" cy="464527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04" name="Google Shape;604;p63"/>
            <p:cNvCxnSpPr/>
            <p:nvPr/>
          </p:nvCxnSpPr>
          <p:spPr>
            <a:xfrm>
              <a:off x="7669428" y="4594747"/>
              <a:ext cx="0" cy="4645277"/>
            </a:xfrm>
            <a:prstGeom prst="straightConnector1">
              <a:avLst/>
            </a:prstGeom>
            <a:noFill/>
            <a:ln w="38100" cap="flat" cmpd="sng">
              <a:solidFill>
                <a:srgbClr val="FFFF00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605" name="Google Shape;605;p63"/>
            <p:cNvCxnSpPr/>
            <p:nvPr/>
          </p:nvCxnSpPr>
          <p:spPr>
            <a:xfrm>
              <a:off x="7047471" y="4594747"/>
              <a:ext cx="0" cy="4645277"/>
            </a:xfrm>
            <a:prstGeom prst="straightConnector1">
              <a:avLst/>
            </a:prstGeom>
            <a:noFill/>
            <a:ln w="38100" cap="flat" cmpd="sng">
              <a:solidFill>
                <a:srgbClr val="FFFF00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606" name="Google Shape;606;p63"/>
            <p:cNvCxnSpPr/>
            <p:nvPr/>
          </p:nvCxnSpPr>
          <p:spPr>
            <a:xfrm>
              <a:off x="6427572" y="4598863"/>
              <a:ext cx="0" cy="4645277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607" name="Google Shape;607;p63"/>
          <p:cNvSpPr/>
          <p:nvPr/>
        </p:nvSpPr>
        <p:spPr>
          <a:xfrm>
            <a:off x="4079789" y="9069714"/>
            <a:ext cx="13405022" cy="2014297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3"/>
          <p:cNvSpPr txBox="1"/>
          <p:nvPr/>
        </p:nvSpPr>
        <p:spPr>
          <a:xfrm>
            <a:off x="4185165" y="9755915"/>
            <a:ext cx="16916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Start 신호가 떨어지면 0이되고 tx_bush가 tx_reg에 업데이트 될때 tx = 0 tx_bush= 1이 된다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Tx_ start = 1 이 될때 랜덤값 d5를 받아옴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64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45941" y="3346450"/>
            <a:ext cx="17798058" cy="548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8" name="Google Shape;618;p64"/>
          <p:cNvCxnSpPr/>
          <p:nvPr/>
        </p:nvCxnSpPr>
        <p:spPr>
          <a:xfrm>
            <a:off x="13005486" y="3346450"/>
            <a:ext cx="0" cy="5486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19" name="Google Shape;619;p64"/>
          <p:cNvCxnSpPr/>
          <p:nvPr/>
        </p:nvCxnSpPr>
        <p:spPr>
          <a:xfrm>
            <a:off x="20586357" y="3350566"/>
            <a:ext cx="0" cy="5486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20" name="Google Shape;620;p64"/>
          <p:cNvSpPr/>
          <p:nvPr/>
        </p:nvSpPr>
        <p:spPr>
          <a:xfrm>
            <a:off x="5544407" y="9391135"/>
            <a:ext cx="8789431" cy="1569308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64"/>
          <p:cNvSpPr txBox="1"/>
          <p:nvPr/>
        </p:nvSpPr>
        <p:spPr>
          <a:xfrm>
            <a:off x="6369908" y="9659719"/>
            <a:ext cx="169164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ko-KR"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State가 2로 바뀔때 b_tick_cnt가 세기시작</a:t>
            </a: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lang="ko-KR"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B_tick_cnt가 15가 될때 tx의 상태를 확인</a:t>
            </a:r>
            <a:endParaRPr sz="2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65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0" name="Google Shape;63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38400" y="3350566"/>
            <a:ext cx="19336521" cy="44740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1" name="Google Shape;631;p65"/>
          <p:cNvCxnSpPr/>
          <p:nvPr/>
        </p:nvCxnSpPr>
        <p:spPr>
          <a:xfrm>
            <a:off x="7543800" y="3350566"/>
            <a:ext cx="0" cy="4522573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32" name="Google Shape;632;p65"/>
          <p:cNvSpPr/>
          <p:nvPr/>
        </p:nvSpPr>
        <p:spPr>
          <a:xfrm>
            <a:off x="5544407" y="9391135"/>
            <a:ext cx="11483204" cy="137160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5"/>
          <p:cNvSpPr txBox="1"/>
          <p:nvPr/>
        </p:nvSpPr>
        <p:spPr>
          <a:xfrm>
            <a:off x="6122773" y="9782870"/>
            <a:ext cx="1054649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ko-KR" sz="2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Tx의 상태를  확인 후 b_tick_gen과 bit_cnt는 반복횟수만큼 실행</a:t>
            </a:r>
            <a:endParaRPr sz="2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66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sz="4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2" name="Google Shape;642;p6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52800" y="3276600"/>
            <a:ext cx="16306800" cy="50552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3" name="Google Shape;643;p66"/>
          <p:cNvCxnSpPr/>
          <p:nvPr/>
        </p:nvCxnSpPr>
        <p:spPr>
          <a:xfrm>
            <a:off x="8610600" y="3276600"/>
            <a:ext cx="0" cy="505524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44" name="Google Shape;644;p66"/>
          <p:cNvCxnSpPr/>
          <p:nvPr/>
        </p:nvCxnSpPr>
        <p:spPr>
          <a:xfrm>
            <a:off x="9982200" y="3276600"/>
            <a:ext cx="0" cy="505524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45" name="Google Shape;645;p66"/>
          <p:cNvCxnSpPr/>
          <p:nvPr/>
        </p:nvCxnSpPr>
        <p:spPr>
          <a:xfrm>
            <a:off x="11378514" y="3276600"/>
            <a:ext cx="0" cy="505524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46" name="Google Shape;646;p66"/>
          <p:cNvCxnSpPr/>
          <p:nvPr/>
        </p:nvCxnSpPr>
        <p:spPr>
          <a:xfrm>
            <a:off x="12764529" y="3276600"/>
            <a:ext cx="0" cy="505524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47" name="Google Shape;647;p66"/>
          <p:cNvCxnSpPr/>
          <p:nvPr/>
        </p:nvCxnSpPr>
        <p:spPr>
          <a:xfrm>
            <a:off x="14136129" y="3276600"/>
            <a:ext cx="0" cy="505524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48" name="Google Shape;648;p66"/>
          <p:cNvCxnSpPr/>
          <p:nvPr/>
        </p:nvCxnSpPr>
        <p:spPr>
          <a:xfrm>
            <a:off x="15544800" y="3276600"/>
            <a:ext cx="0" cy="505524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49" name="Google Shape;649;p66"/>
          <p:cNvCxnSpPr/>
          <p:nvPr/>
        </p:nvCxnSpPr>
        <p:spPr>
          <a:xfrm>
            <a:off x="16916400" y="3276600"/>
            <a:ext cx="0" cy="505524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50" name="Google Shape;650;p66"/>
          <p:cNvCxnSpPr/>
          <p:nvPr/>
        </p:nvCxnSpPr>
        <p:spPr>
          <a:xfrm>
            <a:off x="18288000" y="3276600"/>
            <a:ext cx="0" cy="5055241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51" name="Google Shape;651;p66"/>
          <p:cNvSpPr txBox="1"/>
          <p:nvPr/>
        </p:nvSpPr>
        <p:spPr>
          <a:xfrm>
            <a:off x="8458200" y="8496300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40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2" name="Google Shape;652;p66"/>
          <p:cNvSpPr txBox="1"/>
          <p:nvPr/>
        </p:nvSpPr>
        <p:spPr>
          <a:xfrm>
            <a:off x="11188014" y="8458200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40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3" name="Google Shape;653;p66"/>
          <p:cNvSpPr txBox="1"/>
          <p:nvPr/>
        </p:nvSpPr>
        <p:spPr>
          <a:xfrm>
            <a:off x="9823107" y="8458200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40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4" name="Google Shape;654;p66"/>
          <p:cNvSpPr txBox="1"/>
          <p:nvPr/>
        </p:nvSpPr>
        <p:spPr>
          <a:xfrm>
            <a:off x="12574029" y="8458200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40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5" name="Google Shape;655;p66"/>
          <p:cNvSpPr txBox="1"/>
          <p:nvPr/>
        </p:nvSpPr>
        <p:spPr>
          <a:xfrm>
            <a:off x="13960044" y="8444814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40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6" name="Google Shape;656;p66"/>
          <p:cNvSpPr txBox="1"/>
          <p:nvPr/>
        </p:nvSpPr>
        <p:spPr>
          <a:xfrm>
            <a:off x="15354300" y="8442755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40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7" name="Google Shape;657;p66"/>
          <p:cNvSpPr txBox="1"/>
          <p:nvPr/>
        </p:nvSpPr>
        <p:spPr>
          <a:xfrm>
            <a:off x="16748556" y="8438637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40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8" name="Google Shape;658;p66"/>
          <p:cNvSpPr txBox="1"/>
          <p:nvPr/>
        </p:nvSpPr>
        <p:spPr>
          <a:xfrm>
            <a:off x="18137829" y="8430401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40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9" name="Google Shape;659;p66"/>
          <p:cNvSpPr/>
          <p:nvPr/>
        </p:nvSpPr>
        <p:spPr>
          <a:xfrm>
            <a:off x="5544407" y="9391135"/>
            <a:ext cx="11483204" cy="137160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66"/>
          <p:cNvSpPr txBox="1"/>
          <p:nvPr/>
        </p:nvSpPr>
        <p:spPr>
          <a:xfrm>
            <a:off x="7375953" y="9809911"/>
            <a:ext cx="15773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Tx가 랜덤값을 잘 받아오는걸 확인가능</a:t>
            </a:r>
            <a:endParaRPr sz="3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7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9" name="Google Shape;669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09800" y="3506928"/>
            <a:ext cx="20030095" cy="450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8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8" name="Google Shape;678;p6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07565" y="1082795"/>
            <a:ext cx="4927600" cy="11550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6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31301" y="4038600"/>
            <a:ext cx="5653078" cy="5027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69" descr="C:/Users/심재훈/AppData/Roaming/PolarisOffice/ETemp/22012_14482520/image1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10035" cy="689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69" descr="C:/Users/심재훈/AppData/Roaming/PolarisOffice/ETemp/22012_14482520/image1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500" y="2743200"/>
            <a:ext cx="22720935" cy="823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69" descr="C:/Users/심재훈/AppData/Roaming/PolarisOffice/ETemp/22012_14482520/image1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92800" y="2501900"/>
            <a:ext cx="3772535" cy="2007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69" descr="C:/Users/심재훈/AppData/Roaming/PolarisOffice/ETemp/22012_14482520/image16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2400" y="8242300"/>
            <a:ext cx="3607435" cy="97853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9"/>
          <p:cNvSpPr txBox="1"/>
          <p:nvPr/>
        </p:nvSpPr>
        <p:spPr>
          <a:xfrm>
            <a:off x="6781800" y="8509000"/>
            <a:ext cx="3023235" cy="43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74E"/>
              </a:buClr>
              <a:buSzPts val="2395"/>
              <a:buFont typeface="Calibri"/>
              <a:buNone/>
            </a:pPr>
            <a:r>
              <a:rPr lang="ko-KR" sz="2395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Code review</a:t>
            </a:r>
            <a:endParaRPr sz="2395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9" name="Google Shape;689;p69" descr="C:/Users/심재훈/AppData/Roaming/PolarisOffice/ETemp/22012_14482520/image17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23500" y="8242300"/>
            <a:ext cx="3607435" cy="97853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69"/>
          <p:cNvSpPr txBox="1"/>
          <p:nvPr/>
        </p:nvSpPr>
        <p:spPr>
          <a:xfrm>
            <a:off x="10515600" y="8509000"/>
            <a:ext cx="3023235" cy="43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74E"/>
              </a:buClr>
              <a:buSzPts val="2395"/>
              <a:buFont typeface="Calibri"/>
              <a:buNone/>
            </a:pPr>
            <a:r>
              <a:rPr lang="ko-KR" sz="2395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sz="2395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1" name="Google Shape;691;p69" descr="C:/Users/심재훈/AppData/Roaming/PolarisOffice/ETemp/22012_14482520/image17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44600" y="8242300"/>
            <a:ext cx="3607435" cy="97853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69"/>
          <p:cNvSpPr txBox="1"/>
          <p:nvPr/>
        </p:nvSpPr>
        <p:spPr>
          <a:xfrm>
            <a:off x="14236700" y="8509000"/>
            <a:ext cx="3023235" cy="43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74E"/>
              </a:buClr>
              <a:buSzPts val="2395"/>
              <a:buFont typeface="Calibri"/>
              <a:buNone/>
            </a:pPr>
            <a:r>
              <a:rPr lang="ko-KR" sz="2395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TSL_CONSLOLE</a:t>
            </a:r>
            <a:endParaRPr sz="2395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3" name="Google Shape;693;p69" descr="C:/Users/심재훈/AppData/Roaming/PolarisOffice/ETemp/22012_14482520/image4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364700" y="9880600"/>
            <a:ext cx="584835" cy="54673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9"/>
          <p:cNvSpPr txBox="1"/>
          <p:nvPr/>
        </p:nvSpPr>
        <p:spPr>
          <a:xfrm>
            <a:off x="1587500" y="5003800"/>
            <a:ext cx="5055235" cy="130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74E"/>
              </a:buClr>
              <a:buSzPts val="7330"/>
              <a:buFont typeface="Calibri"/>
              <a:buNone/>
            </a:pPr>
            <a:r>
              <a:rPr lang="ko-KR" sz="7330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PART 5.</a:t>
            </a:r>
            <a:endParaRPr sz="7330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69"/>
          <p:cNvSpPr txBox="1"/>
          <p:nvPr/>
        </p:nvSpPr>
        <p:spPr>
          <a:xfrm>
            <a:off x="6502400" y="5003800"/>
            <a:ext cx="9017635" cy="274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800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74E"/>
              </a:buClr>
              <a:buSzPts val="7994"/>
              <a:buFont typeface="Calibri"/>
              <a:buNone/>
            </a:pPr>
            <a:r>
              <a:rPr lang="ko-KR" sz="7994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UART_tx_rx_fifo</a:t>
            </a:r>
            <a:endParaRPr sz="7994" b="0" i="0" u="none" strike="noStrike" cap="non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7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70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4" name="Google Shape;704;p7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0" y="3124200"/>
            <a:ext cx="10288436" cy="8164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71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3" name="Google Shape;713;p7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19200" y="5638800"/>
            <a:ext cx="9718012" cy="2269181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71"/>
          <p:cNvSpPr/>
          <p:nvPr/>
        </p:nvSpPr>
        <p:spPr>
          <a:xfrm>
            <a:off x="14325600" y="6038956"/>
            <a:ext cx="5701299" cy="155119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71"/>
          <p:cNvSpPr/>
          <p:nvPr/>
        </p:nvSpPr>
        <p:spPr>
          <a:xfrm>
            <a:off x="11716545" y="6382442"/>
            <a:ext cx="1667510" cy="9239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71"/>
          <p:cNvSpPr txBox="1"/>
          <p:nvPr/>
        </p:nvSpPr>
        <p:spPr>
          <a:xfrm>
            <a:off x="14859000" y="6380946"/>
            <a:ext cx="404034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Random값 받아옴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화면에 출력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" name="Google Shape;717;p7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881654" y="8446260"/>
            <a:ext cx="6683223" cy="3047382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71"/>
          <p:cNvSpPr/>
          <p:nvPr/>
        </p:nvSpPr>
        <p:spPr>
          <a:xfrm rot="10800000" flipH="1">
            <a:off x="16687800" y="8902375"/>
            <a:ext cx="2590800" cy="851223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71"/>
          <p:cNvSpPr/>
          <p:nvPr/>
        </p:nvSpPr>
        <p:spPr>
          <a:xfrm rot="10800000" flipH="1">
            <a:off x="17297400" y="10134598"/>
            <a:ext cx="2590800" cy="438043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72" descr="C:/Users/심재훈/AppData/Roaming/PolarisOffice/ETemp/22012_14482520/image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9955" y="762000"/>
            <a:ext cx="22720935" cy="1220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72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72"/>
          <p:cNvSpPr/>
          <p:nvPr/>
        </p:nvSpPr>
        <p:spPr>
          <a:xfrm>
            <a:off x="11311890" y="8267160"/>
            <a:ext cx="10453370" cy="254889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72"/>
          <p:cNvSpPr txBox="1"/>
          <p:nvPr/>
        </p:nvSpPr>
        <p:spPr>
          <a:xfrm>
            <a:off x="11894185" y="8940800"/>
            <a:ext cx="8477885" cy="120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트랜잭션 랜덤화 후 Driver와 Scoreboard 모두에 전달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display에 gen 띄움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Scoreboard 완료될때 까지 동기화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0" name="Google Shape;730;p72" descr="C:/Users/심재훈/AppData/Roaming/PolarisOffice/ETemp/22012_14482520/fImage7204514964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6785" y="3268980"/>
            <a:ext cx="9935845" cy="795909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72"/>
          <p:cNvSpPr/>
          <p:nvPr/>
        </p:nvSpPr>
        <p:spPr>
          <a:xfrm>
            <a:off x="845185" y="6923405"/>
            <a:ext cx="7929880" cy="4387850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72"/>
          <p:cNvSpPr/>
          <p:nvPr/>
        </p:nvSpPr>
        <p:spPr>
          <a:xfrm>
            <a:off x="9750425" y="9238615"/>
            <a:ext cx="166751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3" name="Google Shape;733;p7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70422" y="4495879"/>
            <a:ext cx="6683223" cy="3047382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72"/>
          <p:cNvSpPr/>
          <p:nvPr/>
        </p:nvSpPr>
        <p:spPr>
          <a:xfrm rot="10800000" flipH="1">
            <a:off x="12462828" y="4952998"/>
            <a:ext cx="4682172" cy="457201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73" descr="C:/Users/심재훈/AppData/Roaming/PolarisOffice/ETemp/22012_14482520/image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832" y="762000"/>
            <a:ext cx="22720935" cy="1220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73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3" name="Google Shape;743;p73" descr="C:/Users/심재훈/AppData/Roaming/PolarisOffice/ETemp/22012_14482520/image3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7305" y="3215005"/>
            <a:ext cx="6743065" cy="949833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73"/>
          <p:cNvSpPr/>
          <p:nvPr/>
        </p:nvSpPr>
        <p:spPr>
          <a:xfrm>
            <a:off x="1297940" y="3136900"/>
            <a:ext cx="6619875" cy="2435860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73"/>
          <p:cNvSpPr/>
          <p:nvPr/>
        </p:nvSpPr>
        <p:spPr>
          <a:xfrm>
            <a:off x="11288395" y="3222917"/>
            <a:ext cx="10453370" cy="254889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73"/>
          <p:cNvSpPr/>
          <p:nvPr/>
        </p:nvSpPr>
        <p:spPr>
          <a:xfrm>
            <a:off x="8488045" y="9238615"/>
            <a:ext cx="231140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73"/>
          <p:cNvSpPr txBox="1"/>
          <p:nvPr/>
        </p:nvSpPr>
        <p:spPr>
          <a:xfrm>
            <a:off x="11679555" y="3524250"/>
            <a:ext cx="9216390" cy="157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Dut 초기화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Rx 는 idle 상태로 유지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5클럭 동안 대기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 완료 메세지 출력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8" name="Google Shape;748;p73"/>
          <p:cNvSpPr/>
          <p:nvPr/>
        </p:nvSpPr>
        <p:spPr>
          <a:xfrm>
            <a:off x="1297940" y="5637530"/>
            <a:ext cx="6619875" cy="7126605"/>
          </a:xfrm>
          <a:prstGeom prst="frame">
            <a:avLst>
              <a:gd name="adj1" fmla="val 1431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73"/>
          <p:cNvSpPr/>
          <p:nvPr/>
        </p:nvSpPr>
        <p:spPr>
          <a:xfrm>
            <a:off x="11618029" y="8727792"/>
            <a:ext cx="10453370" cy="254889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73"/>
          <p:cNvSpPr txBox="1"/>
          <p:nvPr/>
        </p:nvSpPr>
        <p:spPr>
          <a:xfrm>
            <a:off x="12061190" y="9097010"/>
            <a:ext cx="9216390" cy="1570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 수신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Start bit 전송 rx =0 bit_period 대기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bit 전송 8비트를 lsb방식으로 전송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 bit 전송 rx= 1</a:t>
            </a:r>
            <a:endParaRPr/>
          </a:p>
        </p:txBody>
      </p:sp>
      <p:sp>
        <p:nvSpPr>
          <p:cNvPr id="751" name="Google Shape;751;p73"/>
          <p:cNvSpPr/>
          <p:nvPr/>
        </p:nvSpPr>
        <p:spPr>
          <a:xfrm>
            <a:off x="8469794" y="3968407"/>
            <a:ext cx="231140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2" name="Google Shape;752;p7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756292" y="6072555"/>
            <a:ext cx="5450771" cy="2381835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73"/>
          <p:cNvSpPr/>
          <p:nvPr/>
        </p:nvSpPr>
        <p:spPr>
          <a:xfrm rot="10800000" flipH="1">
            <a:off x="12633736" y="6312333"/>
            <a:ext cx="4282663" cy="306270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73"/>
          <p:cNvSpPr/>
          <p:nvPr/>
        </p:nvSpPr>
        <p:spPr>
          <a:xfrm rot="10800000" flipH="1">
            <a:off x="12633736" y="6932581"/>
            <a:ext cx="4282663" cy="306270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7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74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3" name="Google Shape;763;p7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48000" y="2768600"/>
            <a:ext cx="6325235" cy="931672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74"/>
          <p:cNvSpPr/>
          <p:nvPr/>
        </p:nvSpPr>
        <p:spPr>
          <a:xfrm>
            <a:off x="3048000" y="6000115"/>
            <a:ext cx="5084445" cy="6097270"/>
          </a:xfrm>
          <a:prstGeom prst="frame">
            <a:avLst>
              <a:gd name="adj1" fmla="val 1431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74"/>
          <p:cNvSpPr/>
          <p:nvPr/>
        </p:nvSpPr>
        <p:spPr>
          <a:xfrm>
            <a:off x="8726170" y="8190865"/>
            <a:ext cx="231140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74"/>
          <p:cNvSpPr/>
          <p:nvPr/>
        </p:nvSpPr>
        <p:spPr>
          <a:xfrm>
            <a:off x="11574780" y="7977505"/>
            <a:ext cx="10453370" cy="254889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74"/>
          <p:cNvSpPr txBox="1"/>
          <p:nvPr/>
        </p:nvSpPr>
        <p:spPr>
          <a:xfrm>
            <a:off x="12214311" y="8349454"/>
            <a:ext cx="9216390" cy="194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8비트 receiveed_byte 선언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하강엣지에서 start bit 감지 후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Bit_period 중간 지점에서 신호를 읽으면서 순서대로 샘플링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수신한 데이터를 새로운 tr에 저장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socreboard로 전송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8" name="Google Shape;768;p7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201400" y="3204751"/>
            <a:ext cx="8839200" cy="386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74"/>
          <p:cNvSpPr/>
          <p:nvPr/>
        </p:nvSpPr>
        <p:spPr>
          <a:xfrm rot="10800000" flipH="1">
            <a:off x="11574780" y="5537197"/>
            <a:ext cx="6865620" cy="462917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Google Shape;774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7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75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8" name="Google Shape;778;p75" descr="C:/Users/심재훈/AppData/Roaming/PolarisOffice/ETemp/22012_14482520/image34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7805" y="2559685"/>
            <a:ext cx="8294370" cy="984123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75"/>
          <p:cNvSpPr/>
          <p:nvPr/>
        </p:nvSpPr>
        <p:spPr>
          <a:xfrm>
            <a:off x="1774190" y="6142990"/>
            <a:ext cx="8013065" cy="6097270"/>
          </a:xfrm>
          <a:prstGeom prst="frame">
            <a:avLst>
              <a:gd name="adj1" fmla="val 1431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75"/>
          <p:cNvSpPr/>
          <p:nvPr/>
        </p:nvSpPr>
        <p:spPr>
          <a:xfrm>
            <a:off x="9964420" y="8381365"/>
            <a:ext cx="231140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75"/>
          <p:cNvSpPr/>
          <p:nvPr/>
        </p:nvSpPr>
        <p:spPr>
          <a:xfrm>
            <a:off x="12599035" y="7572375"/>
            <a:ext cx="10453370" cy="254889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75"/>
          <p:cNvSpPr txBox="1"/>
          <p:nvPr/>
        </p:nvSpPr>
        <p:spPr>
          <a:xfrm>
            <a:off x="13037820" y="8108315"/>
            <a:ext cx="9216390" cy="1293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ko-KR"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gen에서 보낸 tr과 mon에서 보낸 실제 수신 데이터를 가져옴</a:t>
            </a:r>
            <a:endParaRPr sz="2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ko-KR"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tr 값이 같으면 display에서 pass가 나오고 pass_count +1</a:t>
            </a:r>
            <a:endParaRPr sz="2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ko-KR"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아닐시 fail display가 나오고 fail_count + 1</a:t>
            </a:r>
            <a:endParaRPr sz="2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83" name="Google Shape;783;p7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201400" y="3204751"/>
            <a:ext cx="8839200" cy="386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75"/>
          <p:cNvSpPr/>
          <p:nvPr/>
        </p:nvSpPr>
        <p:spPr>
          <a:xfrm rot="10800000" flipH="1">
            <a:off x="11574780" y="5537197"/>
            <a:ext cx="6865620" cy="462917"/>
          </a:xfrm>
          <a:prstGeom prst="frame">
            <a:avLst>
              <a:gd name="adj1" fmla="val 2207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6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3" name="Google Shape;793;p76" descr="C:/Users/심재훈/AppData/Roaming/PolarisOffice/ETemp/22012_14482520/image3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95145" y="3395980"/>
            <a:ext cx="7908925" cy="82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6"/>
          <p:cNvSpPr/>
          <p:nvPr/>
        </p:nvSpPr>
        <p:spPr>
          <a:xfrm>
            <a:off x="9940290" y="7023735"/>
            <a:ext cx="231140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76"/>
          <p:cNvSpPr/>
          <p:nvPr/>
        </p:nvSpPr>
        <p:spPr>
          <a:xfrm>
            <a:off x="12432030" y="6429375"/>
            <a:ext cx="10453370" cy="254889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76"/>
          <p:cNvSpPr txBox="1"/>
          <p:nvPr/>
        </p:nvSpPr>
        <p:spPr>
          <a:xfrm>
            <a:off x="12597130" y="7214870"/>
            <a:ext cx="10119995" cy="123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Generator, Driver, Monitor, Scoreboard를 Environment 안에서 생성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각 컴포넌트 간 연결: Mailbox와 이벤트를 통해 데이터 흐름과 동기화 구성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77" descr="C:/Users/심재훈/AppData/Roaming/PolarisOffice/ETemp/22012_14482520/image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135" y="762000"/>
            <a:ext cx="22720935" cy="1220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7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5" name="Google Shape;805;p77" descr="C:/Users/심재훈/AppData/Roaming/PolarisOffice/ETemp/22012_14482520/image36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04365" y="3319780"/>
            <a:ext cx="8422005" cy="813625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7"/>
          <p:cNvSpPr/>
          <p:nvPr/>
        </p:nvSpPr>
        <p:spPr>
          <a:xfrm>
            <a:off x="1892935" y="8691245"/>
            <a:ext cx="8453755" cy="2739390"/>
          </a:xfrm>
          <a:prstGeom prst="frame">
            <a:avLst>
              <a:gd name="adj1" fmla="val 1431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77"/>
          <p:cNvSpPr/>
          <p:nvPr/>
        </p:nvSpPr>
        <p:spPr>
          <a:xfrm>
            <a:off x="10583545" y="9535795"/>
            <a:ext cx="231140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77"/>
          <p:cNvSpPr/>
          <p:nvPr/>
        </p:nvSpPr>
        <p:spPr>
          <a:xfrm>
            <a:off x="13265785" y="9166860"/>
            <a:ext cx="4867910" cy="1787525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77"/>
          <p:cNvSpPr txBox="1"/>
          <p:nvPr/>
        </p:nvSpPr>
        <p:spPr>
          <a:xfrm>
            <a:off x="13811885" y="9834880"/>
            <a:ext cx="7732395" cy="46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 시뮬레이션 결과 출력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77"/>
          <p:cNvSpPr/>
          <p:nvPr/>
        </p:nvSpPr>
        <p:spPr>
          <a:xfrm>
            <a:off x="1905000" y="4476115"/>
            <a:ext cx="3655695" cy="2096770"/>
          </a:xfrm>
          <a:prstGeom prst="frame">
            <a:avLst>
              <a:gd name="adj1" fmla="val 1431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77"/>
          <p:cNvSpPr/>
          <p:nvPr/>
        </p:nvSpPr>
        <p:spPr>
          <a:xfrm>
            <a:off x="10488295" y="7249795"/>
            <a:ext cx="231140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77"/>
          <p:cNvSpPr/>
          <p:nvPr/>
        </p:nvSpPr>
        <p:spPr>
          <a:xfrm>
            <a:off x="13313410" y="6904990"/>
            <a:ext cx="4867910" cy="1787525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77"/>
          <p:cNvSpPr txBox="1"/>
          <p:nvPr/>
        </p:nvSpPr>
        <p:spPr>
          <a:xfrm>
            <a:off x="13832480" y="7381875"/>
            <a:ext cx="7732395" cy="83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Score_Board에서 처리된 tr </a:t>
            </a:r>
            <a:b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 도달때 까지 대기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77"/>
          <p:cNvSpPr/>
          <p:nvPr/>
        </p:nvSpPr>
        <p:spPr>
          <a:xfrm>
            <a:off x="1905000" y="6715125"/>
            <a:ext cx="6512560" cy="1833880"/>
          </a:xfrm>
          <a:prstGeom prst="frame">
            <a:avLst>
              <a:gd name="adj1" fmla="val 1431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77"/>
          <p:cNvSpPr/>
          <p:nvPr/>
        </p:nvSpPr>
        <p:spPr>
          <a:xfrm>
            <a:off x="6797675" y="4797425"/>
            <a:ext cx="231140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77"/>
          <p:cNvSpPr/>
          <p:nvPr/>
        </p:nvSpPr>
        <p:spPr>
          <a:xfrm>
            <a:off x="9836785" y="4476115"/>
            <a:ext cx="4867910" cy="1787525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77"/>
          <p:cNvSpPr txBox="1"/>
          <p:nvPr/>
        </p:nvSpPr>
        <p:spPr>
          <a:xfrm>
            <a:off x="11177905" y="5137836"/>
            <a:ext cx="7732395" cy="46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만큼 실행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8" name="Google Shape;818;p7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1967" y="3114294"/>
            <a:ext cx="6715637" cy="285402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7"/>
          <p:cNvSpPr/>
          <p:nvPr/>
        </p:nvSpPr>
        <p:spPr>
          <a:xfrm>
            <a:off x="15432405" y="3891675"/>
            <a:ext cx="5524654" cy="1833880"/>
          </a:xfrm>
          <a:prstGeom prst="frame">
            <a:avLst>
              <a:gd name="adj1" fmla="val 1431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8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8" name="Google Shape;828;p78" descr="C:/Users/심재훈/AppData/Roaming/PolarisOffice/ETemp/22012_14482520/fImage7613165298467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51990" y="2617470"/>
            <a:ext cx="6513830" cy="9740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8"/>
          <p:cNvSpPr/>
          <p:nvPr/>
        </p:nvSpPr>
        <p:spPr>
          <a:xfrm>
            <a:off x="2012315" y="7810500"/>
            <a:ext cx="6286500" cy="1238885"/>
          </a:xfrm>
          <a:prstGeom prst="frame">
            <a:avLst>
              <a:gd name="adj1" fmla="val 1431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78"/>
          <p:cNvSpPr/>
          <p:nvPr/>
        </p:nvSpPr>
        <p:spPr>
          <a:xfrm>
            <a:off x="9011920" y="7987665"/>
            <a:ext cx="231140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78"/>
          <p:cNvSpPr/>
          <p:nvPr/>
        </p:nvSpPr>
        <p:spPr>
          <a:xfrm>
            <a:off x="11812905" y="6324600"/>
            <a:ext cx="10513695" cy="312928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78"/>
          <p:cNvSpPr txBox="1"/>
          <p:nvPr/>
        </p:nvSpPr>
        <p:spPr>
          <a:xfrm>
            <a:off x="12108110" y="6591503"/>
            <a:ext cx="15728315" cy="267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TX FIFO가 비어 있지 않고, UART가 바쁘지 않으면 전송 준비 완료 상태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tx_ready 신호가 0 → 1로 바뀔 때 한 클럭 동안만 활성화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즉, TX FIFO에서 데이터를 읽는 펄스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RX FIFO에 데이터가 있고, TX FIFO가 가득 차지 않았다면 전송 허용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데이터가 이동 가능한 상태임을 나타냄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78"/>
          <p:cNvSpPr/>
          <p:nvPr/>
        </p:nvSpPr>
        <p:spPr>
          <a:xfrm>
            <a:off x="11908790" y="9620250"/>
            <a:ext cx="8512810" cy="273939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78"/>
          <p:cNvSpPr txBox="1"/>
          <p:nvPr/>
        </p:nvSpPr>
        <p:spPr>
          <a:xfrm>
            <a:off x="12072620" y="10085070"/>
            <a:ext cx="15728315" cy="193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46350" rIns="89525" bIns="46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이전 클럭의 tx_ready 상태를 저장 → 펄스 생성용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read_tx_fifo_pulse를 그대로 전달 → UART 전송 시작 신호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transfer_en 신호를 1클럭 지연하여 전달 → 타이밍 안정화</a:t>
            </a:r>
            <a:endParaRPr sz="2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5" name="Google Shape;835;p78"/>
          <p:cNvSpPr/>
          <p:nvPr/>
        </p:nvSpPr>
        <p:spPr>
          <a:xfrm>
            <a:off x="2012315" y="9358630"/>
            <a:ext cx="6286500" cy="3000375"/>
          </a:xfrm>
          <a:prstGeom prst="frame">
            <a:avLst>
              <a:gd name="adj1" fmla="val 1431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8"/>
          <p:cNvSpPr/>
          <p:nvPr/>
        </p:nvSpPr>
        <p:spPr>
          <a:xfrm>
            <a:off x="8988425" y="10297795"/>
            <a:ext cx="2311400" cy="10579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9"/>
          <p:cNvSpPr txBox="1"/>
          <p:nvPr/>
        </p:nvSpPr>
        <p:spPr>
          <a:xfrm>
            <a:off x="2006600" y="1054100"/>
            <a:ext cx="29464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Uart_fifo_tb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5" name="Google Shape;845;p7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09800" y="2768600"/>
            <a:ext cx="1871535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9"/>
          <p:cNvSpPr txBox="1"/>
          <p:nvPr/>
        </p:nvSpPr>
        <p:spPr>
          <a:xfrm>
            <a:off x="6553200" y="7068751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4000" b="1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7" name="Google Shape;847;p79"/>
          <p:cNvSpPr txBox="1"/>
          <p:nvPr/>
        </p:nvSpPr>
        <p:spPr>
          <a:xfrm>
            <a:off x="7948295" y="7091611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4000" b="1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8" name="Google Shape;848;p79"/>
          <p:cNvSpPr txBox="1"/>
          <p:nvPr/>
        </p:nvSpPr>
        <p:spPr>
          <a:xfrm>
            <a:off x="14860905" y="7109391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4000" b="1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9" name="Google Shape;849;p79"/>
          <p:cNvSpPr txBox="1"/>
          <p:nvPr/>
        </p:nvSpPr>
        <p:spPr>
          <a:xfrm>
            <a:off x="9372600" y="7068751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4000" b="1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0" name="Google Shape;850;p79"/>
          <p:cNvSpPr txBox="1"/>
          <p:nvPr/>
        </p:nvSpPr>
        <p:spPr>
          <a:xfrm>
            <a:off x="13374370" y="7123996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4000" b="1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1" name="Google Shape;851;p79"/>
          <p:cNvSpPr txBox="1"/>
          <p:nvPr/>
        </p:nvSpPr>
        <p:spPr>
          <a:xfrm>
            <a:off x="12109450" y="7109391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4000" b="1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2" name="Google Shape;852;p79"/>
          <p:cNvSpPr txBox="1"/>
          <p:nvPr/>
        </p:nvSpPr>
        <p:spPr>
          <a:xfrm>
            <a:off x="10700385" y="7099866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4000" b="1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3" name="Google Shape;853;p79"/>
          <p:cNvSpPr txBox="1"/>
          <p:nvPr/>
        </p:nvSpPr>
        <p:spPr>
          <a:xfrm>
            <a:off x="16236315" y="7136696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sz="4000" b="1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sz="4000" b="1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4" name="Google Shape;854;p79"/>
          <p:cNvSpPr/>
          <p:nvPr/>
        </p:nvSpPr>
        <p:spPr>
          <a:xfrm>
            <a:off x="7073008" y="8685553"/>
            <a:ext cx="8729663" cy="1419405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9"/>
          <p:cNvSpPr txBox="1"/>
          <p:nvPr/>
        </p:nvSpPr>
        <p:spPr>
          <a:xfrm>
            <a:off x="8107092" y="9072089"/>
            <a:ext cx="1341183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None/>
            </a:pPr>
            <a:r>
              <a:rPr lang="ko-KR" sz="3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count마다 rx를 가져옴</a:t>
            </a:r>
            <a:endParaRPr sz="3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843" y="737286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8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80"/>
          <p:cNvSpPr txBox="1"/>
          <p:nvPr/>
        </p:nvSpPr>
        <p:spPr>
          <a:xfrm>
            <a:off x="2006600" y="1054100"/>
            <a:ext cx="29464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Uart_fifo_tb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4" name="Google Shape;864;p8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8800" y="2896512"/>
            <a:ext cx="18592800" cy="610058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0"/>
          <p:cNvSpPr/>
          <p:nvPr/>
        </p:nvSpPr>
        <p:spPr>
          <a:xfrm>
            <a:off x="6911546" y="4876799"/>
            <a:ext cx="3832654" cy="3505201"/>
          </a:xfrm>
          <a:prstGeom prst="frame">
            <a:avLst>
              <a:gd name="adj1" fmla="val 1882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80"/>
          <p:cNvSpPr/>
          <p:nvPr/>
        </p:nvSpPr>
        <p:spPr>
          <a:xfrm>
            <a:off x="4114800" y="9200292"/>
            <a:ext cx="13487400" cy="2798168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80"/>
          <p:cNvSpPr txBox="1"/>
          <p:nvPr/>
        </p:nvSpPr>
        <p:spPr>
          <a:xfrm>
            <a:off x="5257800" y="9814546"/>
            <a:ext cx="134112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~rx_empty &amp;&amp; ~tx_fifo_full 아닐때 transfer_en = 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Tx_ready = 1 read_tx_fifo_pulse = 1 </a:t>
            </a:r>
            <a:endParaRPr sz="3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start_uart_signal이 동작되면서 tx_fifo_data가 나옴</a:t>
            </a:r>
            <a:endParaRPr sz="3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2" name="Google Shape;872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1"/>
          <p:cNvSpPr txBox="1"/>
          <p:nvPr/>
        </p:nvSpPr>
        <p:spPr>
          <a:xfrm>
            <a:off x="2006600" y="1054100"/>
            <a:ext cx="29464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Uart_fifo_tb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81"/>
          <p:cNvSpPr txBox="1"/>
          <p:nvPr/>
        </p:nvSpPr>
        <p:spPr>
          <a:xfrm>
            <a:off x="4038600" y="7829034"/>
            <a:ext cx="13411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7" name="Google Shape;877;p8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76400" y="3593459"/>
            <a:ext cx="20795682" cy="4486568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81"/>
          <p:cNvSpPr/>
          <p:nvPr/>
        </p:nvSpPr>
        <p:spPr>
          <a:xfrm>
            <a:off x="6204808" y="8686800"/>
            <a:ext cx="11625992" cy="2565400"/>
          </a:xfrm>
          <a:prstGeom prst="roundRect">
            <a:avLst>
              <a:gd name="adj" fmla="val 16667"/>
            </a:avLst>
          </a:prstGeom>
          <a:solidFill>
            <a:srgbClr val="92CCDC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81"/>
          <p:cNvSpPr txBox="1"/>
          <p:nvPr/>
        </p:nvSpPr>
        <p:spPr>
          <a:xfrm>
            <a:off x="6553200" y="9611383"/>
            <a:ext cx="13411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algun Gothic"/>
              <a:buNone/>
            </a:pPr>
            <a:r>
              <a:rPr lang="ko-KR" sz="3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Ram에 8개의 데이터 다 쌓인 후 FIFO 방식으로 하나씩 나옴</a:t>
            </a:r>
            <a:endParaRPr sz="3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82"/>
          <p:cNvSpPr txBox="1"/>
          <p:nvPr/>
        </p:nvSpPr>
        <p:spPr>
          <a:xfrm>
            <a:off x="2006600" y="1054100"/>
            <a:ext cx="29464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Uart_fifo_tb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8" name="Google Shape;888;p82" descr="C:/Users/심재훈/AppData/Roaming/PolarisOffice/ETemp/22012_14482520/image4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21400" y="1022350"/>
            <a:ext cx="3934405" cy="116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8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337232" y="4943093"/>
            <a:ext cx="8605577" cy="3657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Google Shape;894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500" y="2743200"/>
            <a:ext cx="22720302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24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83"/>
          <p:cNvSpPr txBox="1"/>
          <p:nvPr/>
        </p:nvSpPr>
        <p:spPr>
          <a:xfrm>
            <a:off x="67818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1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9" name="Google Shape;899;p8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235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3"/>
          <p:cNvSpPr txBox="1"/>
          <p:nvPr/>
        </p:nvSpPr>
        <p:spPr>
          <a:xfrm>
            <a:off x="105156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2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1" name="Google Shape;901;p8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446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83"/>
          <p:cNvSpPr txBox="1"/>
          <p:nvPr/>
        </p:nvSpPr>
        <p:spPr>
          <a:xfrm>
            <a:off x="142367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3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3" name="Google Shape;903;p8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3"/>
          <p:cNvSpPr txBox="1"/>
          <p:nvPr/>
        </p:nvSpPr>
        <p:spPr>
          <a:xfrm>
            <a:off x="1587500" y="5003800"/>
            <a:ext cx="5054700" cy="1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12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lang="ko-KR" sz="7333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PART 6.</a:t>
            </a:r>
            <a:endParaRPr sz="7333" b="0" i="0" u="none" strike="noStrike" cap="non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83"/>
          <p:cNvSpPr txBox="1"/>
          <p:nvPr/>
        </p:nvSpPr>
        <p:spPr>
          <a:xfrm>
            <a:off x="6502400" y="5003800"/>
            <a:ext cx="138753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75" rIns="0" bIns="0" anchor="t" anchorCtr="0">
            <a:noAutofit/>
          </a:bodyPr>
          <a:lstStyle/>
          <a:p>
            <a:pPr marL="0" marR="0" lvl="0" indent="0" algn="l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lang="ko-KR" sz="7998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 10000_counter simulation</a:t>
            </a:r>
            <a:endParaRPr sz="7998" b="0" i="0" u="none" strike="noStrike" cap="non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84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4" name="Google Shape;914;p84" title="10000진_블록다이어그램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49176" y="1007751"/>
            <a:ext cx="10646075" cy="109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9" name="Google Shape;919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5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3" name="Google Shape;923;p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2600" y="2565400"/>
            <a:ext cx="4726299" cy="1036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58000" y="3838575"/>
            <a:ext cx="16002000" cy="60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6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3" name="Google Shape;933;p8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5904" y="2763029"/>
            <a:ext cx="21567502" cy="80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8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7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2" name="Google Shape;942;p8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28129" y="2676725"/>
            <a:ext cx="20527752" cy="996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8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8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8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1" name="Google Shape;951;p8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53091" y="2669754"/>
            <a:ext cx="21090523" cy="1011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8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9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0" name="Google Shape;960;p8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5900" y="2716300"/>
            <a:ext cx="21509349" cy="925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9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90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9" name="Google Shape;969;p9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5900" y="2682775"/>
            <a:ext cx="21496250" cy="100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9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91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8" name="Google Shape;978;p9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5904" y="2565404"/>
            <a:ext cx="21496251" cy="991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9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92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7" name="Google Shape;987;p9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5900" y="2565404"/>
            <a:ext cx="21470076" cy="97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9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93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6" name="Google Shape;996;p9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5900" y="2565400"/>
            <a:ext cx="21757998" cy="96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5500" y="2743200"/>
            <a:ext cx="22720302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24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94"/>
          <p:cNvSpPr txBox="1"/>
          <p:nvPr/>
        </p:nvSpPr>
        <p:spPr>
          <a:xfrm>
            <a:off x="67818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1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6" name="Google Shape;1006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235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94"/>
          <p:cNvSpPr txBox="1"/>
          <p:nvPr/>
        </p:nvSpPr>
        <p:spPr>
          <a:xfrm>
            <a:off x="105156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2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8" name="Google Shape;1008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446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94"/>
          <p:cNvSpPr txBox="1"/>
          <p:nvPr/>
        </p:nvSpPr>
        <p:spPr>
          <a:xfrm>
            <a:off x="142367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lang="ko-KR" sz="2399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3 </a:t>
            </a:r>
            <a:r>
              <a:rPr lang="ko-KR" sz="2399" b="0" i="0" u="none" strike="noStrike" cap="non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0" name="Google Shape;1010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94"/>
          <p:cNvSpPr txBox="1"/>
          <p:nvPr/>
        </p:nvSpPr>
        <p:spPr>
          <a:xfrm>
            <a:off x="1587500" y="5003800"/>
            <a:ext cx="5054700" cy="1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125" rIns="0" bIns="0" anchor="t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lang="ko-KR" sz="7333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PART 7.</a:t>
            </a:r>
            <a:endParaRPr sz="7333" b="0" i="0" u="none" strike="noStrike" cap="non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94"/>
          <p:cNvSpPr txBox="1"/>
          <p:nvPr/>
        </p:nvSpPr>
        <p:spPr>
          <a:xfrm>
            <a:off x="6502400" y="5003800"/>
            <a:ext cx="138753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ko-KR" sz="6000" b="0" i="0" u="none" strike="noStrike" cap="non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Trouble Shooting</a:t>
            </a:r>
            <a:endParaRPr sz="6000" b="0" i="0" u="none" strike="noStrike" cap="non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95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트러블슈팅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2" name="Google Shape;1022;p9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33373" y="2886437"/>
            <a:ext cx="3967902" cy="8630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5"/>
          <p:cNvSpPr txBox="1"/>
          <p:nvPr/>
        </p:nvSpPr>
        <p:spPr>
          <a:xfrm>
            <a:off x="13986274" y="6718012"/>
            <a:ext cx="928647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Gen과 Drv의 나오는 tx_data값 타이밍 밀림</a:t>
            </a:r>
            <a:endParaRPr sz="3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24" name="Google Shape;1024;p9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7000" y="4168399"/>
            <a:ext cx="6620799" cy="53919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95"/>
          <p:cNvSpPr/>
          <p:nvPr/>
        </p:nvSpPr>
        <p:spPr>
          <a:xfrm>
            <a:off x="13335000" y="5562600"/>
            <a:ext cx="9525000" cy="2895600"/>
          </a:xfrm>
          <a:prstGeom prst="frame">
            <a:avLst>
              <a:gd name="adj1" fmla="val 8233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53762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9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09295" y="2358891"/>
            <a:ext cx="6335009" cy="93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9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00800" y="4908726"/>
            <a:ext cx="6506483" cy="4258269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96"/>
          <p:cNvSpPr txBox="1"/>
          <p:nvPr/>
        </p:nvSpPr>
        <p:spPr>
          <a:xfrm>
            <a:off x="1774252" y="961891"/>
            <a:ext cx="32512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트러블슈팅(2)</a:t>
            </a:r>
            <a:endParaRPr sz="40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6" name="Google Shape;1036;p96"/>
          <p:cNvSpPr txBox="1"/>
          <p:nvPr/>
        </p:nvSpPr>
        <p:spPr>
          <a:xfrm>
            <a:off x="15097524" y="6724898"/>
            <a:ext cx="928647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Tr.display 부분 위치변경</a:t>
            </a:r>
            <a:endParaRPr sz="3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7" name="Google Shape;1037;p96"/>
          <p:cNvSpPr/>
          <p:nvPr/>
        </p:nvSpPr>
        <p:spPr>
          <a:xfrm>
            <a:off x="14037276" y="5968314"/>
            <a:ext cx="7352270" cy="2248929"/>
          </a:xfrm>
          <a:prstGeom prst="frame">
            <a:avLst>
              <a:gd name="adj1" fmla="val 8233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9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97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트러블슈팅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7" name="Google Shape;1047;p9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14600" y="2755900"/>
            <a:ext cx="4306330" cy="8908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9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74892" y="4635411"/>
            <a:ext cx="6630325" cy="4105848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97"/>
          <p:cNvSpPr txBox="1"/>
          <p:nvPr/>
        </p:nvSpPr>
        <p:spPr>
          <a:xfrm>
            <a:off x="10763679" y="10269204"/>
            <a:ext cx="928647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MON과 SCB에 tx_data = xx</a:t>
            </a:r>
            <a:endParaRPr sz="3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0" name="Google Shape;1050;p97"/>
          <p:cNvSpPr/>
          <p:nvPr/>
        </p:nvSpPr>
        <p:spPr>
          <a:xfrm>
            <a:off x="9738651" y="9406179"/>
            <a:ext cx="8512279" cy="2036178"/>
          </a:xfrm>
          <a:prstGeom prst="frame">
            <a:avLst>
              <a:gd name="adj1" fmla="val 8233"/>
            </a:avLst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Google Shape;1056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9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9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98"/>
          <p:cNvSpPr txBox="1"/>
          <p:nvPr/>
        </p:nvSpPr>
        <p:spPr>
          <a:xfrm>
            <a:off x="1746250" y="838200"/>
            <a:ext cx="32512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ko-KR" sz="4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트러블슈팅(2)</a:t>
            </a:r>
            <a:endParaRPr sz="4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0" name="Google Shape;1060;p9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19800" y="2918187"/>
            <a:ext cx="6369269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9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713943" y="2057399"/>
            <a:ext cx="7973538" cy="5202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9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713943" y="7216489"/>
            <a:ext cx="7973538" cy="4096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9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71426" y="2977273"/>
            <a:ext cx="3200847" cy="8335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5FF"/>
        </a:solidFill>
        <a:effectLst/>
      </p:bgPr>
    </p:bg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8" name="Google Shape;1068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" y="793115"/>
            <a:ext cx="22720302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9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122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99"/>
          <p:cNvSpPr txBox="1"/>
          <p:nvPr/>
        </p:nvSpPr>
        <p:spPr>
          <a:xfrm>
            <a:off x="21348700" y="12636500"/>
            <a:ext cx="2222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0" marR="0" lvl="0" indent="0" algn="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endParaRPr sz="199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2" name="Google Shape;1072;p9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364700" y="11785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9"/>
          <p:cNvSpPr txBox="1"/>
          <p:nvPr/>
        </p:nvSpPr>
        <p:spPr>
          <a:xfrm>
            <a:off x="5497650" y="4404000"/>
            <a:ext cx="13388700" cy="49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0"/>
              <a:buFont typeface="Arial"/>
              <a:buNone/>
            </a:pPr>
            <a:r>
              <a:rPr lang="ko-KR" sz="1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3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</Words>
  <Application>Microsoft Office PowerPoint</Application>
  <PresentationFormat>사용자 지정</PresentationFormat>
  <Paragraphs>209</Paragraphs>
  <Slides>63</Slides>
  <Notes>63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63</vt:i4>
      </vt:variant>
    </vt:vector>
  </HeadingPairs>
  <TitlesOfParts>
    <vt:vector size="69" baseType="lpstr">
      <vt:lpstr>Malgun Gothic</vt:lpstr>
      <vt:lpstr>Arial</vt:lpstr>
      <vt:lpstr>Calibri</vt:lpstr>
      <vt:lpstr>Office Theme</vt:lpstr>
      <vt:lpstr>2_Office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2</cp:revision>
  <dcterms:modified xsi:type="dcterms:W3CDTF">2026-01-24T06:53:56Z</dcterms:modified>
</cp:coreProperties>
</file>