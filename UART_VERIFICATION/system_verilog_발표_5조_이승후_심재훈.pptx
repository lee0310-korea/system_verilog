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81" r:id="rId4"/>
    <p:sldMasterId id="2147483682" r:id="rId5"/>
    <p:sldMasterId id="214748368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</p:sldIdLst>
  <p:sldSz cy="13716000" cx="2438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59" orient="horz"/>
        <p:guide pos="2879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59" orient="horz"/>
        <p:guide pos="2879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70" Type="http://schemas.openxmlformats.org/officeDocument/2006/relationships/slide" Target="slides/slide63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slide" Target="slides/slide59.xml"/><Relationship Id="rId21" Type="http://schemas.openxmlformats.org/officeDocument/2006/relationships/slide" Target="slides/slide14.xml"/><Relationship Id="rId65" Type="http://schemas.openxmlformats.org/officeDocument/2006/relationships/slide" Target="slides/slide58.xml"/><Relationship Id="rId24" Type="http://schemas.openxmlformats.org/officeDocument/2006/relationships/slide" Target="slides/slide17.xml"/><Relationship Id="rId68" Type="http://schemas.openxmlformats.org/officeDocument/2006/relationships/slide" Target="slides/slide61.xml"/><Relationship Id="rId23" Type="http://schemas.openxmlformats.org/officeDocument/2006/relationships/slide" Target="slides/slide16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slide" Target="slides/slide6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4" name="Google Shape;3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2" name="Google Shape;35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7" name="Google Shape;38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6" name="Google Shape;39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5" name="Google Shape;41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4" name="Google Shape;42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3" name="Google Shape;43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3" name="Google Shape;44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0" name="Google Shape;46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fld id="{00000000-1234-1234-1234-123412341234}" type="slidenum">
              <a:rPr b="0" i="0" lang="ko-KR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0" name="Google Shape;47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3" name="Google Shape;48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5" name="Google Shape;50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6" name="Google Shape;52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9" name="Google Shape;54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5" name="Google Shape;56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1" name="Google Shape;58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6" name="Google Shape;59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1" name="Google Shape;61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4" name="Google Shape;62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6" name="Google Shape;63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3" name="Google Shape;66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2" name="Google Shape;672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2" name="Google Shape;682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7" name="Google Shape;707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2" name="Google Shape;722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7" name="Google Shape;737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7" name="Google Shape;757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2" name="Google Shape;772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7" name="Google Shape;787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9" name="Google Shape;799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2" name="Google Shape;822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9" name="Google Shape;839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8" name="Google Shape;858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0" name="Google Shape;870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2" name="Google Shape;882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2" name="Google Shape;892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8" name="Google Shape;908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7" name="Google Shape;917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7" name="Google Shape;927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6" name="Google Shape;936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5" name="Google Shape;945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4" name="Google Shape;954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3" name="Google Shape;963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2" name="Google Shape;972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1" name="Google Shape;981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0" name="Google Shape;990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9" name="Google Shape;999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5" name="Google Shape;1015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6" name="Google Shape;1016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8" name="Google Shape;1028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0" name="Google Shape;1040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1" name="Google Shape;1041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3" name="Google Shape;1053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4" name="Google Shape;1054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fld id="{00000000-1234-1234-1234-123412341234}" type="slidenum">
              <a:rPr b="0" i="0" lang="ko-KR" sz="1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6" name="Google Shape;1066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7" name="Google Shape;9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9" name="Google Shape;109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5" name="Google Shape;115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6" name="Google Shape;11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2" name="Google Shape;122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3" name="Google Shape;123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4" name="Google Shape;124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5" name="Google Shape;12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6" name="Google Shape;136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7" name="Google Shape;1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4" name="Google Shape;144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2" name="Google Shape;172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" name="Google Shape;178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4" name="Google Shape;184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3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90" name="Google Shape;190;p3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91" name="Google Shape;19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3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7" name="Google Shape;197;p3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98" name="Google Shape;198;p3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9" name="Google Shape;199;p3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00" name="Google Shape;200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11" name="Google Shape;211;p3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12" name="Google Shape;212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3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19" name="Google Shape;219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3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5" name="Google Shape;225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3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1" name="Google Shape;231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61" name="Google Shape;161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2" name="Google Shape;16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3" name="Google Shape;16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4" name="Google Shape;16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6.png"/><Relationship Id="rId6" Type="http://schemas.openxmlformats.org/officeDocument/2006/relationships/image" Target="../media/image1.png"/><Relationship Id="rId7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9.png"/><Relationship Id="rId6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20.png"/><Relationship Id="rId7" Type="http://schemas.openxmlformats.org/officeDocument/2006/relationships/image" Target="../media/image10.png"/><Relationship Id="rId8" Type="http://schemas.openxmlformats.org/officeDocument/2006/relationships/image" Target="../media/image2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9.png"/><Relationship Id="rId6" Type="http://schemas.openxmlformats.org/officeDocument/2006/relationships/image" Target="../media/image19.png"/><Relationship Id="rId7" Type="http://schemas.openxmlformats.org/officeDocument/2006/relationships/image" Target="../media/image14.png"/><Relationship Id="rId8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30.png"/><Relationship Id="rId8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5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3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26.png"/><Relationship Id="rId7" Type="http://schemas.openxmlformats.org/officeDocument/2006/relationships/image" Target="../media/image3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9.png"/><Relationship Id="rId6" Type="http://schemas.openxmlformats.org/officeDocument/2006/relationships/image" Target="../media/image19.png"/><Relationship Id="rId7" Type="http://schemas.openxmlformats.org/officeDocument/2006/relationships/image" Target="../media/image14.png"/><Relationship Id="rId8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6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43.png"/><Relationship Id="rId7" Type="http://schemas.openxmlformats.org/officeDocument/2006/relationships/image" Target="../media/image5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4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3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3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65.png"/><Relationship Id="rId7" Type="http://schemas.openxmlformats.org/officeDocument/2006/relationships/image" Target="../media/image3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9.png"/><Relationship Id="rId6" Type="http://schemas.openxmlformats.org/officeDocument/2006/relationships/image" Target="../media/image19.png"/><Relationship Id="rId7" Type="http://schemas.openxmlformats.org/officeDocument/2006/relationships/image" Target="../media/image14.png"/><Relationship Id="rId8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5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4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37.png"/><Relationship Id="rId7" Type="http://schemas.openxmlformats.org/officeDocument/2006/relationships/image" Target="../media/image6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44.png"/><Relationship Id="rId7" Type="http://schemas.openxmlformats.org/officeDocument/2006/relationships/image" Target="../media/image6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42.png"/><Relationship Id="rId7" Type="http://schemas.openxmlformats.org/officeDocument/2006/relationships/image" Target="../media/image6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45.png"/><Relationship Id="rId7" Type="http://schemas.openxmlformats.org/officeDocument/2006/relationships/image" Target="../media/image6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57.png"/><Relationship Id="rId7" Type="http://schemas.openxmlformats.org/officeDocument/2006/relationships/image" Target="../media/image6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51.png"/><Relationship Id="rId7" Type="http://schemas.openxmlformats.org/officeDocument/2006/relationships/image" Target="../media/image46.png"/><Relationship Id="rId8" Type="http://schemas.openxmlformats.org/officeDocument/2006/relationships/image" Target="../media/image9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5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9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6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4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4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54.png"/><Relationship Id="rId7" Type="http://schemas.openxmlformats.org/officeDocument/2006/relationships/image" Target="../media/image9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9.png"/><Relationship Id="rId6" Type="http://schemas.openxmlformats.org/officeDocument/2006/relationships/image" Target="../media/image19.png"/><Relationship Id="rId7" Type="http://schemas.openxmlformats.org/officeDocument/2006/relationships/image" Target="../media/image14.png"/><Relationship Id="rId8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6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55.png"/><Relationship Id="rId7" Type="http://schemas.openxmlformats.org/officeDocument/2006/relationships/image" Target="../media/image6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75.png"/><Relationship Id="rId7" Type="http://schemas.openxmlformats.org/officeDocument/2006/relationships/image" Target="../media/image6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56.png"/><Relationship Id="rId7" Type="http://schemas.openxmlformats.org/officeDocument/2006/relationships/image" Target="../media/image8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59.png"/><Relationship Id="rId7" Type="http://schemas.openxmlformats.org/officeDocument/2006/relationships/image" Target="../media/image8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61.png"/><Relationship Id="rId7" Type="http://schemas.openxmlformats.org/officeDocument/2006/relationships/image" Target="../media/image86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6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79.png"/><Relationship Id="rId7" Type="http://schemas.openxmlformats.org/officeDocument/2006/relationships/image" Target="../media/image10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73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8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7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8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72.png"/><Relationship Id="rId7" Type="http://schemas.openxmlformats.org/officeDocument/2006/relationships/image" Target="../media/image10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9.png"/><Relationship Id="rId6" Type="http://schemas.openxmlformats.org/officeDocument/2006/relationships/image" Target="../media/image19.png"/><Relationship Id="rId7" Type="http://schemas.openxmlformats.org/officeDocument/2006/relationships/image" Target="../media/image14.png"/><Relationship Id="rId8" Type="http://schemas.openxmlformats.org/officeDocument/2006/relationships/image" Target="../media/image1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8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7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90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77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103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78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97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82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83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39.png"/><Relationship Id="rId6" Type="http://schemas.openxmlformats.org/officeDocument/2006/relationships/image" Target="../media/image19.png"/><Relationship Id="rId7" Type="http://schemas.openxmlformats.org/officeDocument/2006/relationships/image" Target="../media/image14.png"/><Relationship Id="rId8" Type="http://schemas.openxmlformats.org/officeDocument/2006/relationships/image" Target="../media/image1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102.png"/><Relationship Id="rId7" Type="http://schemas.openxmlformats.org/officeDocument/2006/relationships/image" Target="../media/image84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87.png"/><Relationship Id="rId7" Type="http://schemas.openxmlformats.org/officeDocument/2006/relationships/image" Target="../media/image89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5" Type="http://schemas.openxmlformats.org/officeDocument/2006/relationships/image" Target="../media/image22.png"/><Relationship Id="rId6" Type="http://schemas.openxmlformats.org/officeDocument/2006/relationships/image" Target="../media/image102.png"/><Relationship Id="rId7" Type="http://schemas.openxmlformats.org/officeDocument/2006/relationships/image" Target="../media/image92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5.png"/><Relationship Id="rId4" Type="http://schemas.openxmlformats.org/officeDocument/2006/relationships/image" Target="../media/image28.png"/><Relationship Id="rId9" Type="http://schemas.openxmlformats.org/officeDocument/2006/relationships/image" Target="../media/image91.png"/><Relationship Id="rId5" Type="http://schemas.openxmlformats.org/officeDocument/2006/relationships/image" Target="../media/image22.png"/><Relationship Id="rId6" Type="http://schemas.openxmlformats.org/officeDocument/2006/relationships/image" Target="../media/image93.png"/><Relationship Id="rId7" Type="http://schemas.openxmlformats.org/officeDocument/2006/relationships/image" Target="../media/image104.png"/><Relationship Id="rId8" Type="http://schemas.openxmlformats.org/officeDocument/2006/relationships/image" Target="../media/image95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" y="793115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122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37"/>
          <p:cNvSpPr txBox="1"/>
          <p:nvPr/>
        </p:nvSpPr>
        <p:spPr>
          <a:xfrm>
            <a:off x="2437765" y="6502400"/>
            <a:ext cx="104267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75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99"/>
              <a:buFont typeface="Arial"/>
              <a:buNone/>
            </a:pPr>
            <a:r>
              <a:rPr b="0" i="0" lang="ko-KR" sz="3999" u="none" cap="none" strike="noStrik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System Verilog 검증</a:t>
            </a:r>
            <a:endParaRPr b="0" i="0" sz="3999" u="none" cap="none" strike="noStrik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7"/>
          <p:cNvSpPr txBox="1"/>
          <p:nvPr/>
        </p:nvSpPr>
        <p:spPr>
          <a:xfrm>
            <a:off x="2413000" y="11315700"/>
            <a:ext cx="5715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425">
            <a:noAutofit/>
          </a:bodyPr>
          <a:lstStyle/>
          <a:p>
            <a:pPr indent="0" lvl="0" marL="0" marR="0" rtl="0" algn="l">
              <a:lnSpc>
                <a:spcPct val="1145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1"/>
              <a:buFont typeface="Arial"/>
              <a:buNone/>
            </a:pPr>
            <a:r>
              <a:rPr b="0" i="0" lang="ko-KR" sz="2701" u="none" cap="none" strike="noStrik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Harman_2기</a:t>
            </a:r>
            <a:endParaRPr b="0" i="0" sz="2701" u="none" cap="none" strike="noStrik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5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1"/>
              <a:buFont typeface="Arial"/>
              <a:buNone/>
            </a:pPr>
            <a:r>
              <a:rPr b="0" i="0" lang="ko-KR" sz="2701" u="none" cap="none" strike="noStrik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팀원 : 심재훈, 이승후</a:t>
            </a:r>
            <a:endParaRPr b="0" i="0" sz="2701" u="none" cap="none" strike="noStrik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7"/>
          <p:cNvSpPr txBox="1"/>
          <p:nvPr/>
        </p:nvSpPr>
        <p:spPr>
          <a:xfrm>
            <a:off x="21348700" y="12636500"/>
            <a:ext cx="22225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noAutofit/>
          </a:bodyPr>
          <a:lstStyle/>
          <a:p>
            <a:pPr indent="0" lvl="0" marL="0" marR="0" rtl="0" algn="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9"/>
              <a:buFont typeface="Arial"/>
              <a:buNone/>
            </a:pPr>
            <a:r>
              <a:t/>
            </a:r>
            <a:endParaRPr b="0" i="0" sz="19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364700" y="11785600"/>
            <a:ext cx="584200" cy="54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7"/>
          <p:cNvSpPr txBox="1"/>
          <p:nvPr/>
        </p:nvSpPr>
        <p:spPr>
          <a:xfrm>
            <a:off x="2413000" y="4191000"/>
            <a:ext cx="18986500" cy="42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3975">
            <a:noAutofit/>
          </a:bodyPr>
          <a:lstStyle/>
          <a:p>
            <a:pPr indent="0" lvl="0" marL="0" marR="0" rtl="0" algn="l">
              <a:lnSpc>
                <a:spcPct val="912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3"/>
              <a:buFont typeface="Arial"/>
              <a:buNone/>
            </a:pPr>
            <a:r>
              <a:rPr b="0" i="0" lang="ko-KR" sz="13333" u="none" cap="none" strike="noStrik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Uart_fifo_10000_counter</a:t>
            </a:r>
            <a:endParaRPr b="0" i="0" sz="13333" u="none" cap="none" strike="noStrike">
              <a:solidFill>
                <a:srgbClr val="2C2C2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oogle Shape;251;p38"/>
          <p:cNvGrpSpPr/>
          <p:nvPr/>
        </p:nvGrpSpPr>
        <p:grpSpPr>
          <a:xfrm>
            <a:off x="-25400" y="762000"/>
            <a:ext cx="24409398" cy="12992100"/>
            <a:chOff x="-25400" y="762000"/>
            <a:chExt cx="24409398" cy="12992100"/>
          </a:xfrm>
        </p:grpSpPr>
        <p:pic>
          <p:nvPicPr>
            <p:cNvPr id="252" name="Google Shape;252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25400" y="6858000"/>
              <a:ext cx="24409398" cy="6896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3" name="Google Shape;253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25500" y="762000"/>
              <a:ext cx="22720302" cy="1220470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4" name="Google Shape;254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88500" y="4076700"/>
            <a:ext cx="35560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8"/>
          <p:cNvSpPr txBox="1"/>
          <p:nvPr/>
        </p:nvSpPr>
        <p:spPr>
          <a:xfrm>
            <a:off x="10972800" y="3416300"/>
            <a:ext cx="7746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6"/>
              <a:buFont typeface="Arial"/>
              <a:buNone/>
            </a:pPr>
            <a:r>
              <a:rPr b="0" i="0" lang="ko-KR" sz="2666" u="none" cap="none" strike="noStrike">
                <a:solidFill>
                  <a:srgbClr val="4A5BA3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38"/>
          <p:cNvSpPr txBox="1"/>
          <p:nvPr/>
        </p:nvSpPr>
        <p:spPr>
          <a:xfrm>
            <a:off x="9652000" y="4343400"/>
            <a:ext cx="34290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45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6"/>
              <a:buFont typeface="Arial"/>
              <a:buNone/>
            </a:pPr>
            <a:r>
              <a:rPr b="0" i="0" lang="ko-KR" sz="3066" u="none" cap="none" strike="noStrik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개요</a:t>
            </a:r>
            <a:endParaRPr b="0" i="0" sz="3066" u="none" cap="none" strike="noStrik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82150" y="7854950"/>
            <a:ext cx="35560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8"/>
          <p:cNvSpPr txBox="1"/>
          <p:nvPr/>
        </p:nvSpPr>
        <p:spPr>
          <a:xfrm>
            <a:off x="10966450" y="7194550"/>
            <a:ext cx="7746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6"/>
              <a:buFont typeface="Arial"/>
              <a:buNone/>
            </a:pPr>
            <a:r>
              <a:rPr b="0" i="0" lang="ko-KR" sz="2666" u="none" cap="none" strike="noStrike">
                <a:solidFill>
                  <a:srgbClr val="4A5BA3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8"/>
          <p:cNvSpPr txBox="1"/>
          <p:nvPr/>
        </p:nvSpPr>
        <p:spPr>
          <a:xfrm>
            <a:off x="9607550" y="8121650"/>
            <a:ext cx="35052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45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ko-KR" sz="3200" u="none" cap="none" strike="noStrik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Uart_Tx</a:t>
            </a:r>
            <a:endParaRPr b="0" i="0" sz="3200" u="none" cap="none" strike="noStrik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868400" y="4076700"/>
            <a:ext cx="35560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8"/>
          <p:cNvSpPr txBox="1"/>
          <p:nvPr/>
        </p:nvSpPr>
        <p:spPr>
          <a:xfrm>
            <a:off x="15252700" y="3416300"/>
            <a:ext cx="7746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6"/>
              <a:buFont typeface="Arial"/>
              <a:buNone/>
            </a:pPr>
            <a:r>
              <a:rPr b="0" i="0" lang="ko-KR" sz="2666" u="none" cap="none" strike="noStrike">
                <a:solidFill>
                  <a:srgbClr val="4A5BA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38"/>
          <p:cNvSpPr txBox="1"/>
          <p:nvPr/>
        </p:nvSpPr>
        <p:spPr>
          <a:xfrm>
            <a:off x="14160500" y="4343400"/>
            <a:ext cx="29592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45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6"/>
              <a:buFont typeface="Arial"/>
              <a:buNone/>
            </a:pPr>
            <a:r>
              <a:t/>
            </a:r>
            <a:endParaRPr b="0" i="0" sz="3066" u="none" cap="none" strike="noStrik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862050" y="7854950"/>
            <a:ext cx="35560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8"/>
          <p:cNvSpPr txBox="1"/>
          <p:nvPr/>
        </p:nvSpPr>
        <p:spPr>
          <a:xfrm>
            <a:off x="15246350" y="7194550"/>
            <a:ext cx="7746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6"/>
              <a:buFont typeface="Arial"/>
              <a:buNone/>
            </a:pPr>
            <a:r>
              <a:rPr b="0" i="0" lang="ko-KR" sz="2666" u="none" cap="none" strike="noStrike">
                <a:solidFill>
                  <a:srgbClr val="4A5BA3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8"/>
          <p:cNvSpPr txBox="1"/>
          <p:nvPr/>
        </p:nvSpPr>
        <p:spPr>
          <a:xfrm>
            <a:off x="14154150" y="8121650"/>
            <a:ext cx="29592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45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6"/>
              <a:buFont typeface="Arial"/>
              <a:buNone/>
            </a:pPr>
            <a:r>
              <a:rPr b="0" i="0" lang="ko-KR" sz="3066" u="none" cap="none" strike="noStrik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Uart_FIFO</a:t>
            </a:r>
            <a:endParaRPr b="0" i="0" sz="3066" u="none" cap="none" strike="noStrik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148300" y="4076700"/>
            <a:ext cx="35560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8"/>
          <p:cNvSpPr txBox="1"/>
          <p:nvPr/>
        </p:nvSpPr>
        <p:spPr>
          <a:xfrm>
            <a:off x="19545300" y="3416300"/>
            <a:ext cx="7746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6"/>
              <a:buFont typeface="Arial"/>
              <a:buNone/>
            </a:pPr>
            <a:r>
              <a:rPr b="0" i="0" lang="ko-KR" sz="2666" u="none" cap="none" strike="noStrike">
                <a:solidFill>
                  <a:srgbClr val="4A5BA3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8"/>
          <p:cNvSpPr txBox="1"/>
          <p:nvPr/>
        </p:nvSpPr>
        <p:spPr>
          <a:xfrm>
            <a:off x="18453100" y="4343400"/>
            <a:ext cx="29592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45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6"/>
              <a:buFont typeface="Arial"/>
              <a:buNone/>
            </a:pPr>
            <a:r>
              <a:rPr b="0" i="0" lang="ko-KR" sz="3066" u="none" cap="none" strike="noStrik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FIFO</a:t>
            </a:r>
            <a:endParaRPr b="0" i="0" sz="3066" u="none" cap="none" strike="noStrik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141950" y="7854950"/>
            <a:ext cx="3556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364700" y="11785600"/>
            <a:ext cx="584200" cy="54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8"/>
          <p:cNvSpPr txBox="1"/>
          <p:nvPr/>
        </p:nvSpPr>
        <p:spPr>
          <a:xfrm>
            <a:off x="19538950" y="7194550"/>
            <a:ext cx="7746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6"/>
              <a:buFont typeface="Arial"/>
              <a:buNone/>
            </a:pPr>
            <a:r>
              <a:rPr b="0" i="0" lang="ko-KR" sz="2666" u="none" cap="none" strike="noStrike">
                <a:solidFill>
                  <a:srgbClr val="4A5BA3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8"/>
          <p:cNvSpPr txBox="1"/>
          <p:nvPr/>
        </p:nvSpPr>
        <p:spPr>
          <a:xfrm>
            <a:off x="18446750" y="8121650"/>
            <a:ext cx="29592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45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6"/>
              <a:buFont typeface="Arial"/>
              <a:buNone/>
            </a:pPr>
            <a:r>
              <a:rPr b="0" i="0" lang="ko-KR" sz="3066" u="none" cap="none" strike="noStrik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10000_counter simulation</a:t>
            </a:r>
            <a:endParaRPr b="0" i="0" sz="3066" u="none" cap="none" strike="noStrik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8"/>
          <p:cNvSpPr txBox="1"/>
          <p:nvPr/>
        </p:nvSpPr>
        <p:spPr>
          <a:xfrm>
            <a:off x="1905000" y="6146800"/>
            <a:ext cx="64008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15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98"/>
              <a:buFont typeface="Arial"/>
              <a:buNone/>
            </a:pPr>
            <a:r>
              <a:rPr b="0" i="0" lang="ko-KR" sz="7998" u="none" cap="none" strike="noStrik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8"/>
          <p:cNvSpPr txBox="1"/>
          <p:nvPr/>
        </p:nvSpPr>
        <p:spPr>
          <a:xfrm>
            <a:off x="13925550" y="4343400"/>
            <a:ext cx="34290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45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ko-KR" sz="3600" u="none" cap="none" strike="noStrik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Uart_Rx</a:t>
            </a:r>
            <a:endParaRPr b="0" i="0" sz="3600" u="none" cap="none" strike="noStrik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" name="Google Shape;276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82150" y="10972800"/>
            <a:ext cx="35560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8"/>
          <p:cNvSpPr txBox="1"/>
          <p:nvPr/>
        </p:nvSpPr>
        <p:spPr>
          <a:xfrm>
            <a:off x="10966450" y="10312400"/>
            <a:ext cx="7746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92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6"/>
              <a:buFont typeface="Arial"/>
              <a:buNone/>
            </a:pPr>
            <a:r>
              <a:rPr b="0" i="0" lang="ko-KR" sz="2666" u="none" cap="none" strike="noStrike">
                <a:solidFill>
                  <a:srgbClr val="4A5BA3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8"/>
          <p:cNvSpPr txBox="1"/>
          <p:nvPr/>
        </p:nvSpPr>
        <p:spPr>
          <a:xfrm>
            <a:off x="9645650" y="11239500"/>
            <a:ext cx="34290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45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6"/>
              <a:buFont typeface="Arial"/>
              <a:buNone/>
            </a:pPr>
            <a:r>
              <a:rPr b="0" i="0" lang="ko-KR" sz="3066" u="none" cap="none" strike="noStrik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				</a:t>
            </a:r>
            <a:endParaRPr b="0" i="0" sz="3066" u="none" cap="none" strike="noStrik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8"/>
          <p:cNvSpPr txBox="1"/>
          <p:nvPr/>
        </p:nvSpPr>
        <p:spPr>
          <a:xfrm>
            <a:off x="9874150" y="11493400"/>
            <a:ext cx="2959200" cy="10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45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6"/>
              <a:buFont typeface="Arial"/>
              <a:buNone/>
            </a:pPr>
            <a:r>
              <a:rPr b="0" i="0" lang="ko-KR" sz="3066" u="none" cap="none" strike="noStrik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Trouble Shooting</a:t>
            </a:r>
            <a:endParaRPr b="0" i="0" sz="3066" u="none" cap="none" strike="noStrik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5500" y="2743200"/>
            <a:ext cx="22720302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592800" y="2501900"/>
            <a:ext cx="3771900" cy="200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364700" y="9880600"/>
            <a:ext cx="584200" cy="54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9"/>
          <p:cNvSpPr txBox="1"/>
          <p:nvPr/>
        </p:nvSpPr>
        <p:spPr>
          <a:xfrm>
            <a:off x="1587500" y="5003800"/>
            <a:ext cx="5054700" cy="13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312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33"/>
              <a:buFont typeface="Arial"/>
              <a:buNone/>
            </a:pPr>
            <a:r>
              <a:rPr b="0" i="0" lang="ko-KR" sz="7333" u="none" cap="none" strike="noStrik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PART 1.</a:t>
            </a:r>
            <a:endParaRPr b="0" i="0" sz="7333" u="none" cap="none" strike="noStrike">
              <a:solidFill>
                <a:srgbClr val="0007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39"/>
          <p:cNvSpPr txBox="1"/>
          <p:nvPr/>
        </p:nvSpPr>
        <p:spPr>
          <a:xfrm>
            <a:off x="6502400" y="5003800"/>
            <a:ext cx="90171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98"/>
              <a:buFont typeface="Arial"/>
              <a:buNone/>
            </a:pPr>
            <a:r>
              <a:rPr b="0" i="0" lang="ko-KR" sz="7998" u="none" cap="none" strike="noStrik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개요 </a:t>
            </a:r>
            <a:endParaRPr b="0" i="0" sz="7998" u="none" cap="none" strike="noStrike">
              <a:solidFill>
                <a:srgbClr val="00074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40"/>
          <p:cNvSpPr txBox="1"/>
          <p:nvPr/>
        </p:nvSpPr>
        <p:spPr>
          <a:xfrm>
            <a:off x="904800" y="1007750"/>
            <a:ext cx="49341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ko-KR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개요 및  부품스펙</a:t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8" name="Google Shape;298;p4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07105" y="3810824"/>
            <a:ext cx="5767528" cy="3053526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40"/>
          <p:cNvSpPr txBox="1"/>
          <p:nvPr/>
        </p:nvSpPr>
        <p:spPr>
          <a:xfrm>
            <a:off x="7725411" y="7605525"/>
            <a:ext cx="7386263" cy="46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Verilog를 확장한 언어로, 디지털 회로 설계와 검증을</a:t>
            </a:r>
            <a:r>
              <a:rPr b="0" i="1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모두 지원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혹은 두 줄 버전: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설계</a:t>
            </a:r>
            <a:r>
              <a:rPr b="0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모듈·인터페이스·자료형 확장으로 복잡한 회로 표현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검증</a:t>
            </a:r>
            <a:r>
              <a:rPr b="0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클래스·OOP·랜덤화로 대규모 칩 검증 지원</a:t>
            </a:r>
            <a:endParaRPr/>
          </a:p>
        </p:txBody>
      </p:sp>
      <p:pic>
        <p:nvPicPr>
          <p:cNvPr id="300" name="Google Shape;300;p4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602180" y="3323968"/>
            <a:ext cx="6528772" cy="3812673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40"/>
          <p:cNvSpPr/>
          <p:nvPr/>
        </p:nvSpPr>
        <p:spPr>
          <a:xfrm>
            <a:off x="2529929" y="7779352"/>
            <a:ext cx="4369983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프로젝트 개요 </a:t>
            </a:r>
            <a:r>
              <a:rPr b="0" i="0" lang="ko-KR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systemverilog로 uart를 verification진행하고 stopwatch가 제대로 동작을 하는 지 검증을 해보는 프로젝트 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40"/>
          <p:cNvSpPr/>
          <p:nvPr/>
        </p:nvSpPr>
        <p:spPr>
          <a:xfrm>
            <a:off x="15543474" y="7759617"/>
            <a:ext cx="7379156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UART 통신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의미</a:t>
            </a:r>
            <a:r>
              <a:rPr b="0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Universal Asynchronous Receiver/Transmitter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방식</a:t>
            </a:r>
            <a:r>
              <a:rPr b="0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Tx, Rx 두 선과 GND만으로 직렬 데이터 전송 </a:t>
            </a:r>
            <a:r>
              <a:rPr b="1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프레임 구조</a:t>
            </a:r>
            <a:r>
              <a:rPr b="0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시작 비트 → 데이터 비트→ 패리티→ 정지 비트</a:t>
            </a:r>
            <a:endParaRPr/>
          </a:p>
          <a:p>
            <a:pPr indent="-1524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1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특징</a:t>
            </a:r>
            <a:r>
              <a:rPr b="0" i="0" lang="ko-KR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구조 단순, 구현 쉬움 → 임베디드/센서/MCU 통신에 널리 활용</a:t>
            </a:r>
            <a:endParaRPr/>
          </a:p>
        </p:txBody>
      </p:sp>
      <p:pic>
        <p:nvPicPr>
          <p:cNvPr id="303" name="Google Shape;303;p40"/>
          <p:cNvPicPr preferRelativeResize="0"/>
          <p:nvPr/>
        </p:nvPicPr>
        <p:blipFill rotWithShape="1">
          <a:blip r:embed="rId8">
            <a:alphaModFix/>
          </a:blip>
          <a:srcRect b="15753" l="0" r="49786" t="0"/>
          <a:stretch/>
        </p:blipFill>
        <p:spPr>
          <a:xfrm>
            <a:off x="1877872" y="3856649"/>
            <a:ext cx="5101686" cy="30856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5500" y="2743200"/>
            <a:ext cx="22720302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592800" y="2501900"/>
            <a:ext cx="3771900" cy="200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02400" y="8242300"/>
            <a:ext cx="3606800" cy="9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1"/>
          <p:cNvSpPr txBox="1"/>
          <p:nvPr/>
        </p:nvSpPr>
        <p:spPr>
          <a:xfrm>
            <a:off x="6781800" y="8509000"/>
            <a:ext cx="3022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b="0" i="0" lang="ko-KR" sz="2399" u="none" cap="none" strike="noStrik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Chapter 1 </a:t>
            </a:r>
            <a:r>
              <a:rPr b="0" i="0" lang="ko-KR" sz="2399" u="none" cap="none" strike="noStrik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키워드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3" name="Google Shape;313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23500" y="8242300"/>
            <a:ext cx="3606800" cy="9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1"/>
          <p:cNvSpPr txBox="1"/>
          <p:nvPr/>
        </p:nvSpPr>
        <p:spPr>
          <a:xfrm>
            <a:off x="10515600" y="8509000"/>
            <a:ext cx="3022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b="0" i="0" lang="ko-KR" sz="2399" u="none" cap="none" strike="noStrik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Chapter 2 </a:t>
            </a:r>
            <a:r>
              <a:rPr b="0" i="0" lang="ko-KR" sz="2399" u="none" cap="none" strike="noStrik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키워드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5" name="Google Shape;315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944600" y="8242300"/>
            <a:ext cx="3606800" cy="9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1"/>
          <p:cNvSpPr txBox="1"/>
          <p:nvPr/>
        </p:nvSpPr>
        <p:spPr>
          <a:xfrm>
            <a:off x="14236700" y="8509000"/>
            <a:ext cx="3022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b="0" i="0" lang="ko-KR" sz="2399" u="none" cap="none" strike="noStrik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Chapter 3 </a:t>
            </a:r>
            <a:r>
              <a:rPr b="0" i="0" lang="ko-KR" sz="2399" u="none" cap="none" strike="noStrik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키워드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7" name="Google Shape;317;p4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2364700" y="9880600"/>
            <a:ext cx="584200" cy="54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41"/>
          <p:cNvSpPr txBox="1"/>
          <p:nvPr/>
        </p:nvSpPr>
        <p:spPr>
          <a:xfrm>
            <a:off x="1587500" y="5003800"/>
            <a:ext cx="5054700" cy="13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312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33"/>
              <a:buFont typeface="Arial"/>
              <a:buNone/>
            </a:pPr>
            <a:r>
              <a:rPr b="0" i="0" lang="ko-KR" sz="7333" u="none" cap="none" strike="noStrik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PART 2.</a:t>
            </a:r>
            <a:endParaRPr b="0" i="0" sz="7333" u="none" cap="none" strike="noStrike">
              <a:solidFill>
                <a:srgbClr val="0007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41"/>
          <p:cNvSpPr txBox="1"/>
          <p:nvPr/>
        </p:nvSpPr>
        <p:spPr>
          <a:xfrm>
            <a:off x="6502400" y="5003800"/>
            <a:ext cx="90171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98"/>
              <a:buFont typeface="Arial"/>
              <a:buNone/>
            </a:pPr>
            <a:r>
              <a:rPr b="0" i="0" lang="ko-KR" sz="7998" u="none" cap="none" strike="noStrik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Uart_Rx</a:t>
            </a:r>
            <a:endParaRPr b="0" i="0" sz="7998" u="none" cap="none" strike="noStrike">
              <a:solidFill>
                <a:srgbClr val="00074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42"/>
          <p:cNvSpPr txBox="1"/>
          <p:nvPr/>
        </p:nvSpPr>
        <p:spPr>
          <a:xfrm>
            <a:off x="2006600" y="1054100"/>
            <a:ext cx="27558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98"/>
              <a:buFont typeface="Arial"/>
              <a:buNone/>
            </a:pPr>
            <a:r>
              <a:rPr b="0" i="0" lang="ko-KR" sz="549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Uart_Rx</a:t>
            </a:r>
            <a:endParaRPr b="0" i="0" sz="5498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8" name="Google Shape;328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33600" y="10541000"/>
            <a:ext cx="3187700" cy="85090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42"/>
          <p:cNvSpPr txBox="1"/>
          <p:nvPr/>
        </p:nvSpPr>
        <p:spPr>
          <a:xfrm>
            <a:off x="2425700" y="10744200"/>
            <a:ext cx="26034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b="0" i="0" lang="ko-KR" sz="2399" u="none" cap="none" strike="noStrik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핵심</a:t>
            </a:r>
            <a:r>
              <a:rPr b="0" i="0" lang="ko-KR" sz="2399" u="none" cap="none" strike="noStrik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ko-KR" sz="2399" u="none" cap="none" strike="noStrik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키워드</a:t>
            </a:r>
            <a:r>
              <a:rPr b="0" i="0" lang="ko-KR" sz="2399" u="none" cap="none" strike="noStrik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 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0" name="Google Shape;330;p42" title="uart_fsm_code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85900" y="2565401"/>
            <a:ext cx="5579350" cy="10165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2" title="uart_rx_블록다이어그램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21525" y="1054107"/>
            <a:ext cx="15737044" cy="1167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43"/>
          <p:cNvSpPr txBox="1"/>
          <p:nvPr/>
        </p:nvSpPr>
        <p:spPr>
          <a:xfrm>
            <a:off x="2006600" y="1054100"/>
            <a:ext cx="27558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8"/>
              <a:buFont typeface="Arial"/>
              <a:buNone/>
            </a:pPr>
            <a:r>
              <a:rPr b="0" i="0" lang="ko-KR" sz="549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Uart_Rx</a:t>
            </a:r>
            <a:endParaRPr b="0" i="0" sz="5498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0" name="Google Shape;340;p43" title="테스트벤치시나리오_블록다이어 그렘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62400" y="2004580"/>
            <a:ext cx="14241075" cy="1056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44"/>
          <p:cNvSpPr txBox="1"/>
          <p:nvPr/>
        </p:nvSpPr>
        <p:spPr>
          <a:xfrm>
            <a:off x="2006600" y="1054100"/>
            <a:ext cx="27558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8"/>
              <a:buFont typeface="Arial"/>
              <a:buNone/>
            </a:pPr>
            <a:r>
              <a:rPr b="0" i="0" lang="ko-KR" sz="549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Uart_Rx</a:t>
            </a:r>
            <a:endParaRPr b="0" i="0" sz="5498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9" name="Google Shape;349;p44" title="uart_rx_시뮬1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16478" y="3429000"/>
            <a:ext cx="20292799" cy="466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5"/>
          <p:cNvSpPr txBox="1"/>
          <p:nvPr/>
        </p:nvSpPr>
        <p:spPr>
          <a:xfrm>
            <a:off x="2006600" y="1054100"/>
            <a:ext cx="27558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8"/>
              <a:buFont typeface="Arial"/>
              <a:buNone/>
            </a:pPr>
            <a:r>
              <a:rPr b="0" i="0" lang="ko-KR" sz="549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Uart_Rx</a:t>
            </a:r>
            <a:endParaRPr b="0" i="0" sz="5498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8" name="Google Shape;358;p45" title="uart_rx_시뮬2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85900" y="3835754"/>
            <a:ext cx="21696849" cy="514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46"/>
          <p:cNvSpPr txBox="1"/>
          <p:nvPr/>
        </p:nvSpPr>
        <p:spPr>
          <a:xfrm>
            <a:off x="2006600" y="1054100"/>
            <a:ext cx="27558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8"/>
              <a:buFont typeface="Arial"/>
              <a:buNone/>
            </a:pPr>
            <a:r>
              <a:rPr b="0" i="0" lang="ko-KR" sz="5498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Uart_Rx</a:t>
            </a:r>
            <a:endParaRPr b="0" i="0" sz="5498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7" name="Google Shape;367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0176" y="3128176"/>
            <a:ext cx="7587450" cy="7878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4375" y="4953038"/>
            <a:ext cx="15324599" cy="422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5500" y="2743200"/>
            <a:ext cx="22720302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592800" y="2501900"/>
            <a:ext cx="3771900" cy="200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02400" y="8242300"/>
            <a:ext cx="3606800" cy="9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47"/>
          <p:cNvSpPr txBox="1"/>
          <p:nvPr/>
        </p:nvSpPr>
        <p:spPr>
          <a:xfrm>
            <a:off x="6781800" y="8509000"/>
            <a:ext cx="3022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b="0" i="0" lang="ko-KR" sz="2399" u="none" cap="none" strike="noStrik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Chapter 1 </a:t>
            </a:r>
            <a:r>
              <a:rPr b="0" i="0" lang="ko-KR" sz="2399" u="none" cap="none" strike="noStrik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키워드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8" name="Google Shape;378;p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23500" y="8242300"/>
            <a:ext cx="3606800" cy="9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47"/>
          <p:cNvSpPr txBox="1"/>
          <p:nvPr/>
        </p:nvSpPr>
        <p:spPr>
          <a:xfrm>
            <a:off x="10515600" y="8509000"/>
            <a:ext cx="3022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b="0" i="0" lang="ko-KR" sz="2399" u="none" cap="none" strike="noStrik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Chapter 2 </a:t>
            </a:r>
            <a:r>
              <a:rPr b="0" i="0" lang="ko-KR" sz="2399" u="none" cap="none" strike="noStrik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키워드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0" name="Google Shape;380;p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944600" y="8242300"/>
            <a:ext cx="3606800" cy="9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47"/>
          <p:cNvSpPr txBox="1"/>
          <p:nvPr/>
        </p:nvSpPr>
        <p:spPr>
          <a:xfrm>
            <a:off x="14236700" y="8509000"/>
            <a:ext cx="3022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b="0" i="0" lang="ko-KR" sz="2399" u="none" cap="none" strike="noStrik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Chapter 3 </a:t>
            </a:r>
            <a:r>
              <a:rPr b="0" i="0" lang="ko-KR" sz="2399" u="none" cap="none" strike="noStrik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키워드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2" name="Google Shape;382;p4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2364700" y="9880600"/>
            <a:ext cx="584200" cy="54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47"/>
          <p:cNvSpPr txBox="1"/>
          <p:nvPr/>
        </p:nvSpPr>
        <p:spPr>
          <a:xfrm>
            <a:off x="1587500" y="5003800"/>
            <a:ext cx="5054700" cy="13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312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33"/>
              <a:buFont typeface="Arial"/>
              <a:buNone/>
            </a:pPr>
            <a:r>
              <a:rPr b="0" i="0" lang="ko-KR" sz="7333" u="none" cap="none" strike="noStrik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PART 3.</a:t>
            </a:r>
            <a:endParaRPr b="0" i="0" sz="7333" u="none" cap="none" strike="noStrike">
              <a:solidFill>
                <a:srgbClr val="0007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47"/>
          <p:cNvSpPr txBox="1"/>
          <p:nvPr/>
        </p:nvSpPr>
        <p:spPr>
          <a:xfrm>
            <a:off x="6502400" y="5003800"/>
            <a:ext cx="90171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98"/>
              <a:buFont typeface="Arial"/>
              <a:buNone/>
            </a:pPr>
            <a:r>
              <a:rPr b="0" i="0" lang="ko-KR" sz="7998" u="none" cap="none" strike="noStrik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FIFO</a:t>
            </a:r>
            <a:endParaRPr b="0" i="0" sz="7998" u="none" cap="none" strike="noStrike">
              <a:solidFill>
                <a:srgbClr val="00074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48"/>
          <p:cNvSpPr txBox="1"/>
          <p:nvPr/>
        </p:nvSpPr>
        <p:spPr>
          <a:xfrm>
            <a:off x="2006600" y="1054100"/>
            <a:ext cx="27558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FIFO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3" name="Google Shape;393;p48" title="fifo_블록다이어그램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19603" y="2649775"/>
            <a:ext cx="13369300" cy="9268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49"/>
          <p:cNvSpPr txBox="1"/>
          <p:nvPr/>
        </p:nvSpPr>
        <p:spPr>
          <a:xfrm>
            <a:off x="2006600" y="1054100"/>
            <a:ext cx="27558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FIFO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98"/>
              <a:buFont typeface="Arial"/>
              <a:buNone/>
            </a:pPr>
            <a:r>
              <a:t/>
            </a:r>
            <a:endParaRPr b="0" i="0" sz="5498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2" name="Google Shape;402;p49" title="fifo_블록다이어그램 2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674107" y="2565407"/>
            <a:ext cx="8256162" cy="92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49" title="테스트벤치시나리오_블록다이어 그렘.drawi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35425" y="2701001"/>
            <a:ext cx="12307799" cy="913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50"/>
          <p:cNvSpPr txBox="1"/>
          <p:nvPr/>
        </p:nvSpPr>
        <p:spPr>
          <a:xfrm>
            <a:off x="2006600" y="1054100"/>
            <a:ext cx="27558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FIFO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2" name="Google Shape;412;p50" title="fifo_시뮬레이션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49863" y="4400667"/>
            <a:ext cx="21496976" cy="491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51"/>
          <p:cNvSpPr txBox="1"/>
          <p:nvPr/>
        </p:nvSpPr>
        <p:spPr>
          <a:xfrm>
            <a:off x="2006600" y="1054100"/>
            <a:ext cx="27558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FIFO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1" name="Google Shape;421;p51" title="fifo_시뮬레이션 1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22875" y="4503779"/>
            <a:ext cx="21308000" cy="470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Google Shape;42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52"/>
          <p:cNvSpPr txBox="1"/>
          <p:nvPr/>
        </p:nvSpPr>
        <p:spPr>
          <a:xfrm>
            <a:off x="2006600" y="1054100"/>
            <a:ext cx="27558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FIFO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0" name="Google Shape;430;p52" title="fifo_시뮬2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85900" y="4635625"/>
            <a:ext cx="21444725" cy="509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53"/>
          <p:cNvSpPr txBox="1"/>
          <p:nvPr/>
        </p:nvSpPr>
        <p:spPr>
          <a:xfrm>
            <a:off x="2006600" y="1054100"/>
            <a:ext cx="2755800" cy="8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FIFO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9" name="Google Shape;439;p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9975" y="2565404"/>
            <a:ext cx="7226075" cy="9819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5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84348" y="4372650"/>
            <a:ext cx="15479501" cy="498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Google Shape;445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5500" y="2743200"/>
            <a:ext cx="227203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592800" y="2501900"/>
            <a:ext cx="3771900" cy="200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02400" y="8242300"/>
            <a:ext cx="3606800" cy="9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54"/>
          <p:cNvSpPr txBox="1"/>
          <p:nvPr/>
        </p:nvSpPr>
        <p:spPr>
          <a:xfrm>
            <a:off x="6781800" y="8509000"/>
            <a:ext cx="30226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b="0" i="0" lang="ko-KR" sz="2399" u="none" cap="none" strike="noStrik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Code review</a:t>
            </a:r>
            <a:endParaRPr b="0" i="0" sz="2399" u="none" cap="none" strike="noStrik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0" name="Google Shape;450;p5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23500" y="8242300"/>
            <a:ext cx="3606800" cy="9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54"/>
          <p:cNvSpPr txBox="1"/>
          <p:nvPr/>
        </p:nvSpPr>
        <p:spPr>
          <a:xfrm>
            <a:off x="10515600" y="8509000"/>
            <a:ext cx="30226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b="0" i="0" lang="ko-KR" sz="2399" u="none" cap="none" strike="noStrik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TESTBENCH</a:t>
            </a:r>
            <a:endParaRPr b="0" i="0" sz="2399" u="none" cap="none" strike="noStrik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2" name="Google Shape;452;p5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944600" y="8242300"/>
            <a:ext cx="3606800" cy="9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54"/>
          <p:cNvSpPr txBox="1"/>
          <p:nvPr/>
        </p:nvSpPr>
        <p:spPr>
          <a:xfrm>
            <a:off x="14236700" y="8509000"/>
            <a:ext cx="30226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b="0" i="0" lang="ko-KR" sz="2399" u="none" cap="none" strike="noStrik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TSL_CONSLOLE</a:t>
            </a:r>
            <a:endParaRPr b="0" i="0" sz="2399" u="none" cap="none" strike="noStrik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4" name="Google Shape;454;p5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2364700" y="9880600"/>
            <a:ext cx="584200" cy="5461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54"/>
          <p:cNvSpPr txBox="1"/>
          <p:nvPr/>
        </p:nvSpPr>
        <p:spPr>
          <a:xfrm>
            <a:off x="1587500" y="5003800"/>
            <a:ext cx="5054600" cy="1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312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33"/>
              <a:buFont typeface="Arial"/>
              <a:buNone/>
            </a:pPr>
            <a:r>
              <a:rPr b="0" i="0" lang="ko-KR" sz="7333" u="none" cap="none" strike="noStrik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PART 4.</a:t>
            </a:r>
            <a:endParaRPr b="0" i="0" sz="7333" u="none" cap="none" strike="noStrik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54"/>
          <p:cNvSpPr txBox="1"/>
          <p:nvPr/>
        </p:nvSpPr>
        <p:spPr>
          <a:xfrm>
            <a:off x="6502400" y="5003800"/>
            <a:ext cx="90170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98"/>
              <a:buFont typeface="Arial"/>
              <a:buNone/>
            </a:pPr>
            <a:r>
              <a:rPr b="0" i="0" lang="ko-KR" sz="7998" u="none" cap="none" strike="noStrik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UART_TX</a:t>
            </a:r>
            <a:endParaRPr b="0" i="0" sz="7998" u="none" cap="none" strike="noStrik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5565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55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6" name="Google Shape;466;p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19800" y="2895600"/>
            <a:ext cx="12088912" cy="8202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8007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475" name="Google Shape;475;p56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UART_TX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56"/>
          <p:cNvSpPr/>
          <p:nvPr/>
        </p:nvSpPr>
        <p:spPr>
          <a:xfrm>
            <a:off x="10213669" y="6528771"/>
            <a:ext cx="1557514" cy="94154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7" name="Google Shape;477;p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32988" y="4632040"/>
            <a:ext cx="7740526" cy="518452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56"/>
          <p:cNvSpPr/>
          <p:nvPr/>
        </p:nvSpPr>
        <p:spPr>
          <a:xfrm>
            <a:off x="12160765" y="5932742"/>
            <a:ext cx="10515600" cy="2133600"/>
          </a:xfrm>
          <a:prstGeom prst="roundRect">
            <a:avLst>
              <a:gd fmla="val 16667" name="adj"/>
            </a:avLst>
          </a:prstGeom>
          <a:solidFill>
            <a:srgbClr val="92CCDC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56"/>
          <p:cNvSpPr txBox="1"/>
          <p:nvPr/>
        </p:nvSpPr>
        <p:spPr>
          <a:xfrm>
            <a:off x="12503665" y="6687073"/>
            <a:ext cx="98298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ko-KR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DUT와 Testbench를 연결해주는 통합 케이블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57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UART_TX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9" name="Google Shape;489;p5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43000" y="4114800"/>
            <a:ext cx="11602790" cy="64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57"/>
          <p:cNvSpPr/>
          <p:nvPr/>
        </p:nvSpPr>
        <p:spPr>
          <a:xfrm>
            <a:off x="7123447" y="4677076"/>
            <a:ext cx="1905000" cy="74136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1" name="Google Shape;491;p57"/>
          <p:cNvGrpSpPr/>
          <p:nvPr/>
        </p:nvGrpSpPr>
        <p:grpSpPr>
          <a:xfrm>
            <a:off x="10020300" y="4483100"/>
            <a:ext cx="9305969" cy="1689100"/>
            <a:chOff x="10020300" y="4483100"/>
            <a:chExt cx="9305969" cy="1689100"/>
          </a:xfrm>
        </p:grpSpPr>
        <p:sp>
          <p:nvSpPr>
            <p:cNvPr id="492" name="Google Shape;492;p57"/>
            <p:cNvSpPr/>
            <p:nvPr/>
          </p:nvSpPr>
          <p:spPr>
            <a:xfrm>
              <a:off x="10020300" y="4483100"/>
              <a:ext cx="8267700" cy="1689100"/>
            </a:xfrm>
            <a:prstGeom prst="roundRect">
              <a:avLst>
                <a:gd fmla="val 16667" name="adj"/>
              </a:avLst>
            </a:prstGeom>
            <a:solidFill>
              <a:srgbClr val="92CCDC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57"/>
            <p:cNvSpPr txBox="1"/>
            <p:nvPr/>
          </p:nvSpPr>
          <p:spPr>
            <a:xfrm>
              <a:off x="10638216" y="4734577"/>
              <a:ext cx="8688053" cy="12003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rPr b="0" i="0" lang="ko-KR" sz="3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Random 값을 받아오는 data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Calibri"/>
                <a:buNone/>
              </a:pPr>
              <a:r>
                <a:rPr b="0" i="0" lang="ko-KR" sz="3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Mon, Scb 데이터 저장공간</a:t>
              </a:r>
              <a:endParaRPr b="0" i="0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4" name="Google Shape;494;p57"/>
          <p:cNvSpPr/>
          <p:nvPr/>
        </p:nvSpPr>
        <p:spPr>
          <a:xfrm>
            <a:off x="1658602" y="4800600"/>
            <a:ext cx="4429795" cy="914400"/>
          </a:xfrm>
          <a:prstGeom prst="frame">
            <a:avLst>
              <a:gd fmla="val 4778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57"/>
          <p:cNvSpPr/>
          <p:nvPr/>
        </p:nvSpPr>
        <p:spPr>
          <a:xfrm>
            <a:off x="1485900" y="7556500"/>
            <a:ext cx="11163300" cy="3035300"/>
          </a:xfrm>
          <a:prstGeom prst="frame">
            <a:avLst>
              <a:gd fmla="val 2335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57"/>
          <p:cNvSpPr/>
          <p:nvPr/>
        </p:nvSpPr>
        <p:spPr>
          <a:xfrm>
            <a:off x="12136190" y="8703469"/>
            <a:ext cx="1905000" cy="74136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7" name="Google Shape;497;p57"/>
          <p:cNvGrpSpPr/>
          <p:nvPr/>
        </p:nvGrpSpPr>
        <p:grpSpPr>
          <a:xfrm>
            <a:off x="14264780" y="8229600"/>
            <a:ext cx="9517310" cy="1689100"/>
            <a:chOff x="10020300" y="4483100"/>
            <a:chExt cx="9517310" cy="1689100"/>
          </a:xfrm>
        </p:grpSpPr>
        <p:sp>
          <p:nvSpPr>
            <p:cNvPr id="498" name="Google Shape;498;p57"/>
            <p:cNvSpPr/>
            <p:nvPr/>
          </p:nvSpPr>
          <p:spPr>
            <a:xfrm>
              <a:off x="10020300" y="4483100"/>
              <a:ext cx="8267700" cy="1689100"/>
            </a:xfrm>
            <a:prstGeom prst="roundRect">
              <a:avLst>
                <a:gd fmla="val 16667" name="adj"/>
              </a:avLst>
            </a:prstGeom>
            <a:solidFill>
              <a:srgbClr val="92CCDC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57"/>
            <p:cNvSpPr txBox="1"/>
            <p:nvPr/>
          </p:nvSpPr>
          <p:spPr>
            <a:xfrm>
              <a:off x="10849557" y="4957687"/>
              <a:ext cx="8688053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Malgun Gothic"/>
                <a:buNone/>
              </a:pPr>
              <a:r>
                <a:rPr b="0" i="0" lang="ko-KR" sz="40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Simulation Console 창 출력 </a:t>
              </a:r>
              <a:endParaRPr b="0" i="0" sz="4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500" name="Google Shape;500;p5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536906" y="4362160"/>
            <a:ext cx="5485894" cy="2631095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57"/>
          <p:cNvSpPr/>
          <p:nvPr/>
        </p:nvSpPr>
        <p:spPr>
          <a:xfrm>
            <a:off x="19920054" y="4542155"/>
            <a:ext cx="2006663" cy="2044700"/>
          </a:xfrm>
          <a:prstGeom prst="frame">
            <a:avLst>
              <a:gd fmla="val 2335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심재훈/AppData/Roaming/PolarisOffice/ETemp/22012_14482520/image8.png" id="508" name="Google Shape;508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215" y="562610"/>
            <a:ext cx="22720935" cy="12205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0" name="Google Shape;510;p58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UART_TX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:/Users/심재훈/AppData/Roaming/PolarisOffice/ETemp/22012_14482520/image20.png" id="511" name="Google Shape;511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88440" y="3409950"/>
            <a:ext cx="8712835" cy="785241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58"/>
          <p:cNvSpPr/>
          <p:nvPr/>
        </p:nvSpPr>
        <p:spPr>
          <a:xfrm>
            <a:off x="1416685" y="3321685"/>
            <a:ext cx="5008880" cy="1836420"/>
          </a:xfrm>
          <a:prstGeom prst="frame">
            <a:avLst>
              <a:gd fmla="val 4778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3" name="Google Shape;513;p58"/>
          <p:cNvSpPr/>
          <p:nvPr/>
        </p:nvSpPr>
        <p:spPr>
          <a:xfrm>
            <a:off x="7274560" y="3809365"/>
            <a:ext cx="3500755" cy="9931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14" name="Google Shape;514;p58"/>
          <p:cNvGrpSpPr/>
          <p:nvPr/>
        </p:nvGrpSpPr>
        <p:grpSpPr>
          <a:xfrm>
            <a:off x="11153775" y="3409315"/>
            <a:ext cx="5530850" cy="1677670"/>
            <a:chOff x="11153775" y="3409315"/>
            <a:chExt cx="5530850" cy="1677670"/>
          </a:xfrm>
        </p:grpSpPr>
        <p:sp>
          <p:nvSpPr>
            <p:cNvPr id="515" name="Google Shape;515;p58"/>
            <p:cNvSpPr/>
            <p:nvPr/>
          </p:nvSpPr>
          <p:spPr>
            <a:xfrm>
              <a:off x="11153775" y="3409315"/>
              <a:ext cx="5530850" cy="1677670"/>
            </a:xfrm>
            <a:prstGeom prst="roundRect">
              <a:avLst>
                <a:gd fmla="val 16667" name="adj"/>
              </a:avLst>
            </a:prstGeom>
            <a:solidFill>
              <a:srgbClr val="92CCDC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16" name="Google Shape;516;p58"/>
            <p:cNvSpPr txBox="1"/>
            <p:nvPr/>
          </p:nvSpPr>
          <p:spPr>
            <a:xfrm>
              <a:off x="11398885" y="3764280"/>
              <a:ext cx="5151755" cy="101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Malgun Gothic"/>
                <a:buNone/>
              </a:pPr>
              <a:r>
                <a:rPr b="0" i="0" lang="ko-KR" sz="30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객체를 담을 핸들 tr 선언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Malgun Gothic"/>
                <a:buNone/>
              </a:pPr>
              <a:r>
                <a:rPr b="0" i="0" lang="ko-KR" sz="3000" u="none" cap="none" strike="noStrike">
                  <a:solidFill>
                    <a:srgbClr val="000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Mailbox로 gen과 drv를 연결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7" name="Google Shape;517;p58"/>
          <p:cNvSpPr/>
          <p:nvPr/>
        </p:nvSpPr>
        <p:spPr>
          <a:xfrm>
            <a:off x="1440180" y="6619875"/>
            <a:ext cx="6953885" cy="4667885"/>
          </a:xfrm>
          <a:prstGeom prst="frame">
            <a:avLst>
              <a:gd fmla="val 1531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8" name="Google Shape;518;p58"/>
          <p:cNvSpPr/>
          <p:nvPr/>
        </p:nvSpPr>
        <p:spPr>
          <a:xfrm>
            <a:off x="8679815" y="8072120"/>
            <a:ext cx="2619375" cy="9931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519" name="Google Shape;519;p58"/>
          <p:cNvGrpSpPr/>
          <p:nvPr/>
        </p:nvGrpSpPr>
        <p:grpSpPr>
          <a:xfrm>
            <a:off x="11581130" y="7731125"/>
            <a:ext cx="9397365" cy="1746885"/>
            <a:chOff x="11581130" y="7731125"/>
            <a:chExt cx="9397365" cy="1746885"/>
          </a:xfrm>
        </p:grpSpPr>
        <p:sp>
          <p:nvSpPr>
            <p:cNvPr id="520" name="Google Shape;520;p58"/>
            <p:cNvSpPr/>
            <p:nvPr/>
          </p:nvSpPr>
          <p:spPr>
            <a:xfrm>
              <a:off x="11581130" y="7731125"/>
              <a:ext cx="8981440" cy="1746885"/>
            </a:xfrm>
            <a:prstGeom prst="roundRect">
              <a:avLst>
                <a:gd fmla="val 16667" name="adj"/>
              </a:avLst>
            </a:prstGeom>
            <a:solidFill>
              <a:srgbClr val="92CCDC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21" name="Google Shape;521;p58"/>
            <p:cNvSpPr txBox="1"/>
            <p:nvPr/>
          </p:nvSpPr>
          <p:spPr>
            <a:xfrm>
              <a:off x="11968326" y="8307100"/>
              <a:ext cx="9010169" cy="5231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Malgun Gothic"/>
                <a:buNone/>
              </a:pPr>
              <a:r>
                <a:rPr b="0" i="0" lang="ko-KR" sz="2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지정된 횟수만큼 tr 생성해 Mailbox로 Driver에 전달</a:t>
              </a:r>
              <a:endParaRPr b="0" i="0" sz="2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522" name="Google Shape;522;p5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7271420" y="4566944"/>
            <a:ext cx="5485894" cy="2631095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58"/>
          <p:cNvSpPr/>
          <p:nvPr/>
        </p:nvSpPr>
        <p:spPr>
          <a:xfrm>
            <a:off x="20609148" y="4685520"/>
            <a:ext cx="2006663" cy="2044700"/>
          </a:xfrm>
          <a:prstGeom prst="frame">
            <a:avLst>
              <a:gd fmla="val 2335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8" name="Google Shape;528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59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UART_TX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2" name="Google Shape;532;p5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09800" y="2565400"/>
            <a:ext cx="6934200" cy="1027303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59"/>
          <p:cNvSpPr txBox="1"/>
          <p:nvPr/>
        </p:nvSpPr>
        <p:spPr>
          <a:xfrm>
            <a:off x="9525000" y="1488440"/>
            <a:ext cx="4572635" cy="831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34" name="Google Shape;534;p59"/>
          <p:cNvSpPr/>
          <p:nvPr/>
        </p:nvSpPr>
        <p:spPr>
          <a:xfrm>
            <a:off x="2320290" y="5191125"/>
            <a:ext cx="4812030" cy="2798445"/>
          </a:xfrm>
          <a:prstGeom prst="frame">
            <a:avLst>
              <a:gd fmla="val 3439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59"/>
          <p:cNvSpPr/>
          <p:nvPr/>
        </p:nvSpPr>
        <p:spPr>
          <a:xfrm>
            <a:off x="7346950" y="5297805"/>
            <a:ext cx="2820035" cy="120777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6" name="Google Shape;536;p59"/>
          <p:cNvGrpSpPr/>
          <p:nvPr/>
        </p:nvGrpSpPr>
        <p:grpSpPr>
          <a:xfrm>
            <a:off x="10708503" y="5484198"/>
            <a:ext cx="8981440" cy="1570673"/>
            <a:chOff x="10795000" y="5194935"/>
            <a:chExt cx="8981440" cy="1746885"/>
          </a:xfrm>
        </p:grpSpPr>
        <p:sp>
          <p:nvSpPr>
            <p:cNvPr id="537" name="Google Shape;537;p59"/>
            <p:cNvSpPr/>
            <p:nvPr/>
          </p:nvSpPr>
          <p:spPr>
            <a:xfrm>
              <a:off x="10795000" y="5194935"/>
              <a:ext cx="8981440" cy="1746885"/>
            </a:xfrm>
            <a:prstGeom prst="roundRect">
              <a:avLst>
                <a:gd fmla="val 16667" name="adj"/>
              </a:avLst>
            </a:prstGeom>
            <a:solidFill>
              <a:srgbClr val="92CCDC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59"/>
            <p:cNvSpPr txBox="1"/>
            <p:nvPr/>
          </p:nvSpPr>
          <p:spPr>
            <a:xfrm>
              <a:off x="11302794" y="5431785"/>
              <a:ext cx="8163560" cy="138499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Malgun Gothic"/>
                <a:buNone/>
              </a:pPr>
              <a:r>
                <a:rPr b="0" i="0" lang="ko-KR" sz="2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Dut 초기화를 위해 rst = 1 및 나머지 신호도 초기화</a:t>
              </a:r>
              <a:endPara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Malgun Gothic"/>
                <a:buNone/>
              </a:pPr>
              <a:r>
                <a:rPr b="0" i="0" lang="ko-KR" sz="2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Clk 두번 기다린 후 rst해제 및 출력메세지</a:t>
              </a:r>
              <a:endParaRPr b="0" i="0" sz="2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sp>
        <p:nvSpPr>
          <p:cNvPr id="539" name="Google Shape;539;p59"/>
          <p:cNvSpPr/>
          <p:nvPr/>
        </p:nvSpPr>
        <p:spPr>
          <a:xfrm>
            <a:off x="2320290" y="7989570"/>
            <a:ext cx="6431280" cy="4358005"/>
          </a:xfrm>
          <a:prstGeom prst="frame">
            <a:avLst>
              <a:gd fmla="val 2207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59"/>
          <p:cNvSpPr/>
          <p:nvPr/>
        </p:nvSpPr>
        <p:spPr>
          <a:xfrm>
            <a:off x="8895080" y="9489440"/>
            <a:ext cx="2820035" cy="120777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1" name="Google Shape;541;p59"/>
          <p:cNvGrpSpPr/>
          <p:nvPr/>
        </p:nvGrpSpPr>
        <p:grpSpPr>
          <a:xfrm>
            <a:off x="12009755" y="9219565"/>
            <a:ext cx="8981440" cy="3469640"/>
            <a:chOff x="12009755" y="9219565"/>
            <a:chExt cx="8981440" cy="3469640"/>
          </a:xfrm>
        </p:grpSpPr>
        <p:sp>
          <p:nvSpPr>
            <p:cNvPr id="542" name="Google Shape;542;p59"/>
            <p:cNvSpPr/>
            <p:nvPr/>
          </p:nvSpPr>
          <p:spPr>
            <a:xfrm>
              <a:off x="12009755" y="9219565"/>
              <a:ext cx="8981440" cy="1746885"/>
            </a:xfrm>
            <a:prstGeom prst="roundRect">
              <a:avLst>
                <a:gd fmla="val 16667" name="adj"/>
              </a:avLst>
            </a:prstGeom>
            <a:solidFill>
              <a:srgbClr val="92CCDC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59"/>
            <p:cNvSpPr txBox="1"/>
            <p:nvPr/>
          </p:nvSpPr>
          <p:spPr>
            <a:xfrm>
              <a:off x="12494895" y="9397365"/>
              <a:ext cx="8163560" cy="32918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0" i="0" lang="ko-KR" sz="2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Mailbox에서 tr 수신</a:t>
              </a:r>
              <a:endParaRPr b="0" i="0" sz="2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0" i="0" lang="ko-KR" sz="2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DUT에 tx_data전달 및 tx_start신호 발생</a:t>
              </a:r>
              <a:endParaRPr b="0" i="0" sz="2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b="0" i="0" lang="ko-KR" sz="2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 tx_busy신호로 전송 완료 확인</a:t>
              </a:r>
              <a:endParaRPr b="0" i="0" sz="2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0"/>
                <a:buFont typeface="Calibri"/>
                <a:buNone/>
              </a:pPr>
              <a:r>
                <a:t/>
              </a:r>
              <a:endParaRPr b="0" i="0" sz="13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544" name="Google Shape;544;p5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198350" y="2619269"/>
            <a:ext cx="5485894" cy="2631095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59"/>
          <p:cNvSpPr/>
          <p:nvPr/>
        </p:nvSpPr>
        <p:spPr>
          <a:xfrm>
            <a:off x="12009755" y="3212757"/>
            <a:ext cx="2682429" cy="399705"/>
          </a:xfrm>
          <a:prstGeom prst="frame">
            <a:avLst>
              <a:gd fmla="val 2335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59"/>
          <p:cNvSpPr/>
          <p:nvPr/>
        </p:nvSpPr>
        <p:spPr>
          <a:xfrm>
            <a:off x="13101269" y="3648392"/>
            <a:ext cx="3938699" cy="338138"/>
          </a:xfrm>
          <a:prstGeom prst="frame">
            <a:avLst>
              <a:gd fmla="val 2335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" name="Google Shape;551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6417" y="75565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60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UART_TX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60"/>
          <p:cNvSpPr/>
          <p:nvPr/>
        </p:nvSpPr>
        <p:spPr>
          <a:xfrm>
            <a:off x="10336530" y="7048500"/>
            <a:ext cx="2820035" cy="117221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6" name="Google Shape;556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06600" y="3200400"/>
            <a:ext cx="8126095" cy="8259445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60"/>
          <p:cNvSpPr/>
          <p:nvPr/>
        </p:nvSpPr>
        <p:spPr>
          <a:xfrm>
            <a:off x="1892935" y="5846445"/>
            <a:ext cx="8215630" cy="5667375"/>
          </a:xfrm>
          <a:prstGeom prst="frame">
            <a:avLst>
              <a:gd fmla="val 2207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8" name="Google Shape;558;p60"/>
          <p:cNvGrpSpPr/>
          <p:nvPr/>
        </p:nvGrpSpPr>
        <p:grpSpPr>
          <a:xfrm>
            <a:off x="13390880" y="6945630"/>
            <a:ext cx="8981440" cy="1746885"/>
            <a:chOff x="13390880" y="6945630"/>
            <a:chExt cx="8981440" cy="1746885"/>
          </a:xfrm>
        </p:grpSpPr>
        <p:sp>
          <p:nvSpPr>
            <p:cNvPr id="559" name="Google Shape;559;p60"/>
            <p:cNvSpPr/>
            <p:nvPr/>
          </p:nvSpPr>
          <p:spPr>
            <a:xfrm>
              <a:off x="13390880" y="6945630"/>
              <a:ext cx="8981440" cy="1746885"/>
            </a:xfrm>
            <a:prstGeom prst="roundRect">
              <a:avLst>
                <a:gd fmla="val 16667" name="adj"/>
              </a:avLst>
            </a:prstGeom>
            <a:solidFill>
              <a:srgbClr val="92CCDC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509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60"/>
            <p:cNvSpPr txBox="1"/>
            <p:nvPr/>
          </p:nvSpPr>
          <p:spPr>
            <a:xfrm>
              <a:off x="13900150" y="7123430"/>
              <a:ext cx="8163560" cy="1198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algun Gothic"/>
                <a:buNone/>
              </a:pPr>
              <a:r>
                <a:rPr b="0" i="0" lang="ko-KR" sz="24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Negedge -&gt; start bit 감지</a:t>
              </a:r>
              <a:br>
                <a:rPr b="0" i="0" lang="ko-KR" sz="24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</a:br>
              <a:r>
                <a:rPr b="0" i="0" lang="ko-KR" sz="24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Start bit 이후 절반 지점에서 맞춰 8비트 데이터 수집</a:t>
              </a:r>
              <a:endPara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algun Gothic"/>
                <a:buNone/>
              </a:pPr>
              <a:r>
                <a:rPr b="0" i="0" lang="ko-KR" sz="24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마지막 주기 동안 대기 후 scorboard로 전달</a:t>
              </a:r>
              <a:endPara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pic>
        <p:nvPicPr>
          <p:cNvPr id="561" name="Google Shape;561;p6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811009" y="3215350"/>
            <a:ext cx="5485894" cy="2631095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60"/>
          <p:cNvSpPr/>
          <p:nvPr/>
        </p:nvSpPr>
        <p:spPr>
          <a:xfrm>
            <a:off x="14778681" y="4646141"/>
            <a:ext cx="4422139" cy="333632"/>
          </a:xfrm>
          <a:prstGeom prst="frame">
            <a:avLst>
              <a:gd fmla="val 2335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Google Shape;567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61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UART_TX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61"/>
          <p:cNvSpPr/>
          <p:nvPr/>
        </p:nvSpPr>
        <p:spPr>
          <a:xfrm>
            <a:off x="10370185" y="8343900"/>
            <a:ext cx="2098675" cy="94361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61"/>
          <p:cNvSpPr/>
          <p:nvPr/>
        </p:nvSpPr>
        <p:spPr>
          <a:xfrm>
            <a:off x="13276580" y="8488680"/>
            <a:ext cx="8981440" cy="1746885"/>
          </a:xfrm>
          <a:prstGeom prst="roundRect">
            <a:avLst>
              <a:gd fmla="val 16667" name="adj"/>
            </a:avLst>
          </a:prstGeom>
          <a:solidFill>
            <a:srgbClr val="92CCDC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61"/>
          <p:cNvSpPr txBox="1"/>
          <p:nvPr/>
        </p:nvSpPr>
        <p:spPr>
          <a:xfrm>
            <a:off x="13086801" y="8988020"/>
            <a:ext cx="9360998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Mon에서 받은 rdata와 dut에서 받은 expected_data가 같은지 비교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ko-K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일치하면 pass_Count + 1 아닐 시 fail_Count + 1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4" name="Google Shape;574;p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46250" y="3051175"/>
            <a:ext cx="8516620" cy="8745220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61"/>
          <p:cNvSpPr/>
          <p:nvPr/>
        </p:nvSpPr>
        <p:spPr>
          <a:xfrm>
            <a:off x="1685925" y="6684645"/>
            <a:ext cx="8401685" cy="5212715"/>
          </a:xfrm>
          <a:prstGeom prst="frame">
            <a:avLst>
              <a:gd fmla="val 2207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6" name="Google Shape;576;p6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38014" y="4274212"/>
            <a:ext cx="5485894" cy="2631095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61"/>
          <p:cNvSpPr/>
          <p:nvPr/>
        </p:nvSpPr>
        <p:spPr>
          <a:xfrm>
            <a:off x="14580973" y="6070600"/>
            <a:ext cx="4422139" cy="333632"/>
          </a:xfrm>
          <a:prstGeom prst="frame">
            <a:avLst>
              <a:gd fmla="val 2335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61"/>
          <p:cNvSpPr/>
          <p:nvPr/>
        </p:nvSpPr>
        <p:spPr>
          <a:xfrm>
            <a:off x="13513435" y="6437691"/>
            <a:ext cx="5367689" cy="333632"/>
          </a:xfrm>
          <a:prstGeom prst="frame">
            <a:avLst>
              <a:gd fmla="val 2335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심재훈/AppData/Roaming/PolarisOffice/ETemp/22012_14482520/image8.png" id="584" name="Google Shape;584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6135" y="762000"/>
            <a:ext cx="22720935" cy="12205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6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62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UART_TX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62"/>
          <p:cNvSpPr/>
          <p:nvPr/>
        </p:nvSpPr>
        <p:spPr>
          <a:xfrm>
            <a:off x="8282940" y="8488680"/>
            <a:ext cx="2611120" cy="105791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/Users/심재훈/AppData/Roaming/PolarisOffice/ETemp/22012_14482520/image24.png" id="588" name="Google Shape;588;p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95070" y="2823845"/>
            <a:ext cx="6335395" cy="88315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심재훈/AppData/Roaming/PolarisOffice/ETemp/22012_14482520/image25.png" id="589" name="Google Shape;589;p6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29830" y="2823845"/>
            <a:ext cx="5982970" cy="3363595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62"/>
          <p:cNvSpPr/>
          <p:nvPr/>
        </p:nvSpPr>
        <p:spPr>
          <a:xfrm>
            <a:off x="11061700" y="7750810"/>
            <a:ext cx="10453370" cy="2548890"/>
          </a:xfrm>
          <a:prstGeom prst="roundRect">
            <a:avLst>
              <a:gd fmla="val 16667" name="adj"/>
            </a:avLst>
          </a:prstGeom>
          <a:solidFill>
            <a:srgbClr val="92CCDC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62"/>
          <p:cNvSpPr txBox="1"/>
          <p:nvPr/>
        </p:nvSpPr>
        <p:spPr>
          <a:xfrm>
            <a:off x="11518125" y="8222477"/>
            <a:ext cx="9777730" cy="1844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Generator / Driver / Monitor / Scoreboard를 연결하고 전체 테스트벤치 환경 구성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Mailbox와 Event로 각 컴포넌트 간 데이터와 동기화 관리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Reset, Run, Report 기능 제공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62"/>
          <p:cNvSpPr/>
          <p:nvPr/>
        </p:nvSpPr>
        <p:spPr>
          <a:xfrm rot="3540000">
            <a:off x="10300335" y="6172835"/>
            <a:ext cx="2461895" cy="1072515"/>
          </a:xfrm>
          <a:prstGeom prst="rightArrow">
            <a:avLst>
              <a:gd fmla="val 50000" name="adj1"/>
              <a:gd fmla="val 55983" name="adj2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3" name="Google Shape;593;p6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4542015" y="2188822"/>
            <a:ext cx="5653078" cy="5027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8" name="Google Shape;598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546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6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63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testbench</a:t>
            </a:r>
            <a:endParaRPr b="0" i="0" sz="4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2" name="Google Shape;602;p63"/>
          <p:cNvGrpSpPr/>
          <p:nvPr/>
        </p:nvGrpSpPr>
        <p:grpSpPr>
          <a:xfrm>
            <a:off x="2006600" y="3839008"/>
            <a:ext cx="20264711" cy="4649393"/>
            <a:chOff x="1994243" y="4594747"/>
            <a:chExt cx="20264711" cy="4649393"/>
          </a:xfrm>
        </p:grpSpPr>
        <p:pic>
          <p:nvPicPr>
            <p:cNvPr id="603" name="Google Shape;603;p6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994243" y="4594747"/>
              <a:ext cx="20264711" cy="464527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04" name="Google Shape;604;p63"/>
            <p:cNvCxnSpPr/>
            <p:nvPr/>
          </p:nvCxnSpPr>
          <p:spPr>
            <a:xfrm>
              <a:off x="7669428" y="4594747"/>
              <a:ext cx="0" cy="4645277"/>
            </a:xfrm>
            <a:prstGeom prst="straightConnector1">
              <a:avLst/>
            </a:prstGeom>
            <a:noFill/>
            <a:ln cap="flat" cmpd="sng" w="38100">
              <a:solidFill>
                <a:srgbClr val="FFFF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605" name="Google Shape;605;p63"/>
            <p:cNvCxnSpPr/>
            <p:nvPr/>
          </p:nvCxnSpPr>
          <p:spPr>
            <a:xfrm>
              <a:off x="7047471" y="4594747"/>
              <a:ext cx="0" cy="4645277"/>
            </a:xfrm>
            <a:prstGeom prst="straightConnector1">
              <a:avLst/>
            </a:prstGeom>
            <a:noFill/>
            <a:ln cap="flat" cmpd="sng" w="38100">
              <a:solidFill>
                <a:srgbClr val="FFFF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606" name="Google Shape;606;p63"/>
            <p:cNvCxnSpPr/>
            <p:nvPr/>
          </p:nvCxnSpPr>
          <p:spPr>
            <a:xfrm>
              <a:off x="6427572" y="4598863"/>
              <a:ext cx="0" cy="4645277"/>
            </a:xfrm>
            <a:prstGeom prst="straightConnector1">
              <a:avLst/>
            </a:prstGeom>
            <a:noFill/>
            <a:ln cap="flat" cmpd="sng" w="38100">
              <a:solidFill>
                <a:schemeClr val="accent1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sp>
        <p:nvSpPr>
          <p:cNvPr id="607" name="Google Shape;607;p63"/>
          <p:cNvSpPr/>
          <p:nvPr/>
        </p:nvSpPr>
        <p:spPr>
          <a:xfrm>
            <a:off x="4079789" y="9069714"/>
            <a:ext cx="13405022" cy="2014297"/>
          </a:xfrm>
          <a:prstGeom prst="roundRect">
            <a:avLst>
              <a:gd fmla="val 16667" name="adj"/>
            </a:avLst>
          </a:prstGeom>
          <a:solidFill>
            <a:srgbClr val="92CCDC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63"/>
          <p:cNvSpPr txBox="1"/>
          <p:nvPr/>
        </p:nvSpPr>
        <p:spPr>
          <a:xfrm>
            <a:off x="4185165" y="9755915"/>
            <a:ext cx="16916400" cy="830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b="0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Start 신호가 떨어지면 0이되고 tx_bush가 tx_reg에 업데이트 될때 tx = 0 tx_bush= 1이 된다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b="0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Tx_ start = 1 이 될때 랜덤값 d5를 받아옴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" name="Google Shape;613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6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64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testbench</a:t>
            </a:r>
            <a:endParaRPr b="0" i="0" sz="4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17" name="Google Shape;617;p6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45941" y="3346450"/>
            <a:ext cx="17798058" cy="5486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8" name="Google Shape;618;p64"/>
          <p:cNvCxnSpPr/>
          <p:nvPr/>
        </p:nvCxnSpPr>
        <p:spPr>
          <a:xfrm>
            <a:off x="13005486" y="3346450"/>
            <a:ext cx="0" cy="5486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19" name="Google Shape;619;p64"/>
          <p:cNvCxnSpPr/>
          <p:nvPr/>
        </p:nvCxnSpPr>
        <p:spPr>
          <a:xfrm>
            <a:off x="20586357" y="3350566"/>
            <a:ext cx="0" cy="5486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20" name="Google Shape;620;p64"/>
          <p:cNvSpPr/>
          <p:nvPr/>
        </p:nvSpPr>
        <p:spPr>
          <a:xfrm>
            <a:off x="5544407" y="9391135"/>
            <a:ext cx="8789431" cy="1569308"/>
          </a:xfrm>
          <a:prstGeom prst="roundRect">
            <a:avLst>
              <a:gd fmla="val 16667" name="adj"/>
            </a:avLst>
          </a:prstGeom>
          <a:solidFill>
            <a:srgbClr val="92CCDC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64"/>
          <p:cNvSpPr txBox="1"/>
          <p:nvPr/>
        </p:nvSpPr>
        <p:spPr>
          <a:xfrm>
            <a:off x="6369908" y="9659719"/>
            <a:ext cx="16916400" cy="9540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b="0" i="0" lang="ko-KR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State가 2로 바뀔때 b_tick_cnt가 세기시작</a:t>
            </a:r>
            <a:endParaRPr b="0" i="0" sz="2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</a:pPr>
            <a:r>
              <a:rPr b="0" i="0" lang="ko-KR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B_tick_cnt가 15가 될때 tx의 상태를 확인</a:t>
            </a:r>
            <a:endParaRPr b="0" i="0" sz="28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6" name="Google Shape;626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7" name="Google Shape;627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65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testbench</a:t>
            </a:r>
            <a:endParaRPr b="0" i="0" sz="4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0" name="Google Shape;630;p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38400" y="3350566"/>
            <a:ext cx="19336521" cy="447407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1" name="Google Shape;631;p65"/>
          <p:cNvCxnSpPr/>
          <p:nvPr/>
        </p:nvCxnSpPr>
        <p:spPr>
          <a:xfrm>
            <a:off x="7543800" y="3350566"/>
            <a:ext cx="0" cy="4522573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32" name="Google Shape;632;p65"/>
          <p:cNvSpPr/>
          <p:nvPr/>
        </p:nvSpPr>
        <p:spPr>
          <a:xfrm>
            <a:off x="5544407" y="9391135"/>
            <a:ext cx="11483204" cy="1371600"/>
          </a:xfrm>
          <a:prstGeom prst="roundRect">
            <a:avLst>
              <a:gd fmla="val 16667" name="adj"/>
            </a:avLst>
          </a:prstGeom>
          <a:solidFill>
            <a:srgbClr val="92CCDC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65"/>
          <p:cNvSpPr txBox="1"/>
          <p:nvPr/>
        </p:nvSpPr>
        <p:spPr>
          <a:xfrm>
            <a:off x="6122773" y="9782870"/>
            <a:ext cx="1054649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ko-KR" sz="2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Tx의 상태를  확인 후 b_tick_gen과 bit_cnt는 반복횟수만큼 실행</a:t>
            </a:r>
            <a:endParaRPr b="0" i="0" sz="2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8" name="Google Shape;638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9" name="Google Shape;639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66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0" i="0" lang="ko-KR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testbench</a:t>
            </a:r>
            <a:endParaRPr b="0" i="0" sz="4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2" name="Google Shape;642;p6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352800" y="3276600"/>
            <a:ext cx="16306800" cy="50552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3" name="Google Shape;643;p66"/>
          <p:cNvCxnSpPr/>
          <p:nvPr/>
        </p:nvCxnSpPr>
        <p:spPr>
          <a:xfrm>
            <a:off x="8610600" y="3276600"/>
            <a:ext cx="0" cy="5055241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44" name="Google Shape;644;p66"/>
          <p:cNvCxnSpPr/>
          <p:nvPr/>
        </p:nvCxnSpPr>
        <p:spPr>
          <a:xfrm>
            <a:off x="9982200" y="3276600"/>
            <a:ext cx="0" cy="5055241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45" name="Google Shape;645;p66"/>
          <p:cNvCxnSpPr/>
          <p:nvPr/>
        </p:nvCxnSpPr>
        <p:spPr>
          <a:xfrm>
            <a:off x="11378514" y="3276600"/>
            <a:ext cx="0" cy="5055241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46" name="Google Shape;646;p66"/>
          <p:cNvCxnSpPr/>
          <p:nvPr/>
        </p:nvCxnSpPr>
        <p:spPr>
          <a:xfrm>
            <a:off x="12764529" y="3276600"/>
            <a:ext cx="0" cy="5055241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47" name="Google Shape;647;p66"/>
          <p:cNvCxnSpPr/>
          <p:nvPr/>
        </p:nvCxnSpPr>
        <p:spPr>
          <a:xfrm>
            <a:off x="14136129" y="3276600"/>
            <a:ext cx="0" cy="5055241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48" name="Google Shape;648;p66"/>
          <p:cNvCxnSpPr/>
          <p:nvPr/>
        </p:nvCxnSpPr>
        <p:spPr>
          <a:xfrm>
            <a:off x="15544800" y="3276600"/>
            <a:ext cx="0" cy="5055241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49" name="Google Shape;649;p66"/>
          <p:cNvCxnSpPr/>
          <p:nvPr/>
        </p:nvCxnSpPr>
        <p:spPr>
          <a:xfrm>
            <a:off x="16916400" y="3276600"/>
            <a:ext cx="0" cy="5055241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50" name="Google Shape;650;p66"/>
          <p:cNvCxnSpPr/>
          <p:nvPr/>
        </p:nvCxnSpPr>
        <p:spPr>
          <a:xfrm>
            <a:off x="18288000" y="3276600"/>
            <a:ext cx="0" cy="5055241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51" name="Google Shape;651;p66"/>
          <p:cNvSpPr txBox="1"/>
          <p:nvPr/>
        </p:nvSpPr>
        <p:spPr>
          <a:xfrm>
            <a:off x="8458200" y="8496300"/>
            <a:ext cx="381000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ko-KR" sz="40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4000" u="none" cap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2" name="Google Shape;652;p66"/>
          <p:cNvSpPr txBox="1"/>
          <p:nvPr/>
        </p:nvSpPr>
        <p:spPr>
          <a:xfrm>
            <a:off x="11188014" y="8458200"/>
            <a:ext cx="381000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ko-KR" sz="40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4000" u="none" cap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3" name="Google Shape;653;p66"/>
          <p:cNvSpPr txBox="1"/>
          <p:nvPr/>
        </p:nvSpPr>
        <p:spPr>
          <a:xfrm>
            <a:off x="9823107" y="8458200"/>
            <a:ext cx="381000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ko-KR" sz="40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endParaRPr b="0" i="0" sz="4000" u="none" cap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4" name="Google Shape;654;p66"/>
          <p:cNvSpPr txBox="1"/>
          <p:nvPr/>
        </p:nvSpPr>
        <p:spPr>
          <a:xfrm>
            <a:off x="12574029" y="8458200"/>
            <a:ext cx="381000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ko-KR" sz="40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endParaRPr b="0" i="0" sz="4000" u="none" cap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5" name="Google Shape;655;p66"/>
          <p:cNvSpPr txBox="1"/>
          <p:nvPr/>
        </p:nvSpPr>
        <p:spPr>
          <a:xfrm>
            <a:off x="13960044" y="8444814"/>
            <a:ext cx="381000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ko-KR" sz="40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4000" u="none" cap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6" name="Google Shape;656;p66"/>
          <p:cNvSpPr txBox="1"/>
          <p:nvPr/>
        </p:nvSpPr>
        <p:spPr>
          <a:xfrm>
            <a:off x="15354300" y="8442755"/>
            <a:ext cx="381000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ko-KR" sz="40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endParaRPr b="0" i="0" sz="4000" u="none" cap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7" name="Google Shape;657;p66"/>
          <p:cNvSpPr txBox="1"/>
          <p:nvPr/>
        </p:nvSpPr>
        <p:spPr>
          <a:xfrm>
            <a:off x="16748556" y="8438637"/>
            <a:ext cx="381000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ko-KR" sz="40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4000" u="none" cap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8" name="Google Shape;658;p66"/>
          <p:cNvSpPr txBox="1"/>
          <p:nvPr/>
        </p:nvSpPr>
        <p:spPr>
          <a:xfrm>
            <a:off x="18137829" y="8430401"/>
            <a:ext cx="381000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ko-KR" sz="40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4000" u="none" cap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9" name="Google Shape;659;p66"/>
          <p:cNvSpPr/>
          <p:nvPr/>
        </p:nvSpPr>
        <p:spPr>
          <a:xfrm>
            <a:off x="5544407" y="9391135"/>
            <a:ext cx="11483204" cy="1371600"/>
          </a:xfrm>
          <a:prstGeom prst="roundRect">
            <a:avLst>
              <a:gd fmla="val 16667" name="adj"/>
            </a:avLst>
          </a:prstGeom>
          <a:solidFill>
            <a:srgbClr val="92CCDC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66"/>
          <p:cNvSpPr txBox="1"/>
          <p:nvPr/>
        </p:nvSpPr>
        <p:spPr>
          <a:xfrm>
            <a:off x="7375953" y="9809911"/>
            <a:ext cx="15773400" cy="584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ko-KR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Tx가 랜덤값을 잘 받아오는걸 확인가능</a:t>
            </a:r>
            <a:endParaRPr b="0" i="0" sz="3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6" name="Google Shape;666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7" name="Google Shape;667;p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67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testbench</a:t>
            </a:r>
            <a:endParaRPr b="0" i="0" sz="4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9" name="Google Shape;669;p6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09800" y="3506928"/>
            <a:ext cx="20030095" cy="45067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5" name="Google Shape;675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6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68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testbench</a:t>
            </a:r>
            <a:endParaRPr b="0" i="0" sz="4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8" name="Google Shape;678;p6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07565" y="1082795"/>
            <a:ext cx="4927600" cy="11550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p6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231301" y="4038600"/>
            <a:ext cx="5653078" cy="5027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:/Users/심재훈/AppData/Roaming/PolarisOffice/ETemp/22012_14482520/image13.png" id="684" name="Google Shape;684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10035" cy="68967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심재훈/AppData/Roaming/PolarisOffice/ETemp/22012_14482520/image14.png" id="685" name="Google Shape;685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5500" y="2743200"/>
            <a:ext cx="22720935" cy="8230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심재훈/AppData/Roaming/PolarisOffice/ETemp/22012_14482520/image15.png" id="686" name="Google Shape;686;p6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592800" y="2501900"/>
            <a:ext cx="3772535" cy="2007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심재훈/AppData/Roaming/PolarisOffice/ETemp/22012_14482520/image16.png" id="687" name="Google Shape;687;p6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02400" y="8242300"/>
            <a:ext cx="3607435" cy="978535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69"/>
          <p:cNvSpPr txBox="1"/>
          <p:nvPr/>
        </p:nvSpPr>
        <p:spPr>
          <a:xfrm>
            <a:off x="6781800" y="8509000"/>
            <a:ext cx="3023235" cy="432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74E"/>
              </a:buClr>
              <a:buSzPts val="2395"/>
              <a:buFont typeface="Calibri"/>
              <a:buNone/>
            </a:pPr>
            <a:r>
              <a:rPr b="0" i="0" lang="ko-KR" sz="2395" u="none" cap="none" strike="noStrik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Code review</a:t>
            </a:r>
            <a:endParaRPr b="0" i="0" sz="2395" u="none" cap="none" strike="noStrik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/Users/심재훈/AppData/Roaming/PolarisOffice/ETemp/22012_14482520/image17.png" id="689" name="Google Shape;689;p6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23500" y="8242300"/>
            <a:ext cx="3607435" cy="978535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69"/>
          <p:cNvSpPr txBox="1"/>
          <p:nvPr/>
        </p:nvSpPr>
        <p:spPr>
          <a:xfrm>
            <a:off x="10515600" y="8509000"/>
            <a:ext cx="3023235" cy="432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74E"/>
              </a:buClr>
              <a:buSzPts val="2395"/>
              <a:buFont typeface="Calibri"/>
              <a:buNone/>
            </a:pPr>
            <a:r>
              <a:rPr b="0" i="0" lang="ko-KR" sz="2395" u="none" cap="none" strike="noStrik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TESTBENCH</a:t>
            </a:r>
            <a:endParaRPr b="0" i="0" sz="2395" u="none" cap="none" strike="noStrik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/Users/심재훈/AppData/Roaming/PolarisOffice/ETemp/22012_14482520/image17.png" id="691" name="Google Shape;691;p6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944600" y="8242300"/>
            <a:ext cx="3607435" cy="978535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69"/>
          <p:cNvSpPr txBox="1"/>
          <p:nvPr/>
        </p:nvSpPr>
        <p:spPr>
          <a:xfrm>
            <a:off x="14236700" y="8509000"/>
            <a:ext cx="3023235" cy="432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74E"/>
              </a:buClr>
              <a:buSzPts val="2395"/>
              <a:buFont typeface="Calibri"/>
              <a:buNone/>
            </a:pPr>
            <a:r>
              <a:rPr b="0" i="0" lang="ko-KR" sz="2395" u="none" cap="none" strike="noStrik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TSL_CONSLOLE</a:t>
            </a:r>
            <a:endParaRPr b="0" i="0" sz="2395" u="none" cap="none" strike="noStrik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/Users/심재훈/AppData/Roaming/PolarisOffice/ETemp/22012_14482520/image4.png" id="693" name="Google Shape;693;p6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2364700" y="9880600"/>
            <a:ext cx="584835" cy="546735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69"/>
          <p:cNvSpPr txBox="1"/>
          <p:nvPr/>
        </p:nvSpPr>
        <p:spPr>
          <a:xfrm>
            <a:off x="1587500" y="5003800"/>
            <a:ext cx="5055235" cy="13087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332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74E"/>
              </a:buClr>
              <a:buSzPts val="7330"/>
              <a:buFont typeface="Calibri"/>
              <a:buNone/>
            </a:pPr>
            <a:r>
              <a:rPr b="0" i="0" lang="ko-KR" sz="7330" u="none" cap="none" strike="noStrik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PART 5.</a:t>
            </a:r>
            <a:endParaRPr b="0" i="0" sz="7330" u="none" cap="none" strike="noStrik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69"/>
          <p:cNvSpPr txBox="1"/>
          <p:nvPr/>
        </p:nvSpPr>
        <p:spPr>
          <a:xfrm>
            <a:off x="6502400" y="5003800"/>
            <a:ext cx="9017635" cy="2743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800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74E"/>
              </a:buClr>
              <a:buSzPts val="7994"/>
              <a:buFont typeface="Calibri"/>
              <a:buNone/>
            </a:pPr>
            <a:r>
              <a:rPr b="0" i="0" lang="ko-KR" sz="7994" u="none" cap="none" strike="noStrik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UART_tx_rx_fifo</a:t>
            </a:r>
            <a:endParaRPr b="0" i="0" sz="7994" u="none" cap="none" strike="noStrike">
              <a:solidFill>
                <a:srgbClr val="00074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0" name="Google Shape;700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2" name="Google Shape;702;p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70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Uart_fifo</a:t>
            </a:r>
            <a:endParaRPr b="0" i="0" sz="4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04" name="Google Shape;704;p7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8000" y="3124200"/>
            <a:ext cx="10288436" cy="8164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p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71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Uart_fifo</a:t>
            </a:r>
            <a:endParaRPr b="0" i="0" sz="4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3" name="Google Shape;713;p7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19200" y="5638800"/>
            <a:ext cx="9718012" cy="2269181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71"/>
          <p:cNvSpPr/>
          <p:nvPr/>
        </p:nvSpPr>
        <p:spPr>
          <a:xfrm>
            <a:off x="14325600" y="6038956"/>
            <a:ext cx="5701299" cy="1551190"/>
          </a:xfrm>
          <a:prstGeom prst="roundRect">
            <a:avLst>
              <a:gd fmla="val 16667" name="adj"/>
            </a:avLst>
          </a:prstGeom>
          <a:solidFill>
            <a:srgbClr val="92CCD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71"/>
          <p:cNvSpPr/>
          <p:nvPr/>
        </p:nvSpPr>
        <p:spPr>
          <a:xfrm>
            <a:off x="11716545" y="6382442"/>
            <a:ext cx="1667510" cy="92392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71"/>
          <p:cNvSpPr txBox="1"/>
          <p:nvPr/>
        </p:nvSpPr>
        <p:spPr>
          <a:xfrm>
            <a:off x="14859000" y="6380946"/>
            <a:ext cx="4040345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Random값 받아옴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Display 화면에 출력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7" name="Google Shape;717;p7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4881654" y="8446260"/>
            <a:ext cx="6683223" cy="3047382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71"/>
          <p:cNvSpPr/>
          <p:nvPr/>
        </p:nvSpPr>
        <p:spPr>
          <a:xfrm flipH="1" rot="10800000">
            <a:off x="16687800" y="8902375"/>
            <a:ext cx="2590800" cy="851223"/>
          </a:xfrm>
          <a:prstGeom prst="frame">
            <a:avLst>
              <a:gd fmla="val 2207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71"/>
          <p:cNvSpPr/>
          <p:nvPr/>
        </p:nvSpPr>
        <p:spPr>
          <a:xfrm flipH="1" rot="10800000">
            <a:off x="17297400" y="10134598"/>
            <a:ext cx="2590800" cy="438043"/>
          </a:xfrm>
          <a:prstGeom prst="frame">
            <a:avLst>
              <a:gd fmla="val 2207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심재훈/AppData/Roaming/PolarisOffice/ETemp/22012_14482520/image8.png" id="725" name="Google Shape;725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9955" y="762000"/>
            <a:ext cx="22720935" cy="12205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6" name="Google Shape;726;p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72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Uart_fifo</a:t>
            </a:r>
            <a:endParaRPr b="0" i="0" sz="4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72"/>
          <p:cNvSpPr/>
          <p:nvPr/>
        </p:nvSpPr>
        <p:spPr>
          <a:xfrm>
            <a:off x="11311890" y="8267160"/>
            <a:ext cx="10453370" cy="2548890"/>
          </a:xfrm>
          <a:prstGeom prst="roundRect">
            <a:avLst>
              <a:gd fmla="val 16667" name="adj"/>
            </a:avLst>
          </a:prstGeom>
          <a:solidFill>
            <a:srgbClr val="92CCDC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72"/>
          <p:cNvSpPr txBox="1"/>
          <p:nvPr/>
        </p:nvSpPr>
        <p:spPr>
          <a:xfrm>
            <a:off x="11894185" y="8940800"/>
            <a:ext cx="8477885" cy="1201611"/>
          </a:xfrm>
          <a:prstGeom prst="rect">
            <a:avLst/>
          </a:prstGeom>
          <a:noFill/>
          <a:ln>
            <a:noFill/>
          </a:ln>
        </p:spPr>
        <p:txBody>
          <a:bodyPr anchorCtr="0" anchor="t" bIns="46350" lIns="89525" spcFirstLastPara="1" rIns="89525" wrap="square" tIns="46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트랜잭션 랜덤화 후 Driver와 Scoreboard 모두에 전달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display에 gen 띄움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Scoreboard 완료될때 까지 동기화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/Users/심재훈/AppData/Roaming/PolarisOffice/ETemp/22012_14482520/fImage72045149641.png" id="730" name="Google Shape;730;p7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6785" y="3268980"/>
            <a:ext cx="9935845" cy="7959090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72"/>
          <p:cNvSpPr/>
          <p:nvPr/>
        </p:nvSpPr>
        <p:spPr>
          <a:xfrm>
            <a:off x="845185" y="6923405"/>
            <a:ext cx="7929880" cy="4387850"/>
          </a:xfrm>
          <a:prstGeom prst="frame">
            <a:avLst>
              <a:gd fmla="val 2207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72"/>
          <p:cNvSpPr/>
          <p:nvPr/>
        </p:nvSpPr>
        <p:spPr>
          <a:xfrm>
            <a:off x="9750425" y="9238615"/>
            <a:ext cx="1667510" cy="105791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33" name="Google Shape;733;p7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270422" y="4495879"/>
            <a:ext cx="6683223" cy="3047382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72"/>
          <p:cNvSpPr/>
          <p:nvPr/>
        </p:nvSpPr>
        <p:spPr>
          <a:xfrm flipH="1" rot="10800000">
            <a:off x="12462828" y="4952998"/>
            <a:ext cx="4682172" cy="457201"/>
          </a:xfrm>
          <a:prstGeom prst="frame">
            <a:avLst>
              <a:gd fmla="val 2207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심재훈/AppData/Roaming/PolarisOffice/ETemp/22012_14482520/image8.png" id="740" name="Google Shape;740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8832" y="762000"/>
            <a:ext cx="22720935" cy="12205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1" name="Google Shape;741;p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73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Uart_fifo</a:t>
            </a:r>
            <a:endParaRPr b="0" i="0" sz="4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/Users/심재훈/AppData/Roaming/PolarisOffice/ETemp/22012_14482520/image32.png" id="743" name="Google Shape;743;p7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97305" y="3215005"/>
            <a:ext cx="6743065" cy="9498330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73"/>
          <p:cNvSpPr/>
          <p:nvPr/>
        </p:nvSpPr>
        <p:spPr>
          <a:xfrm>
            <a:off x="1297940" y="3136900"/>
            <a:ext cx="6619875" cy="2435860"/>
          </a:xfrm>
          <a:prstGeom prst="frame">
            <a:avLst>
              <a:gd fmla="val 2207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73"/>
          <p:cNvSpPr/>
          <p:nvPr/>
        </p:nvSpPr>
        <p:spPr>
          <a:xfrm>
            <a:off x="11288395" y="3222917"/>
            <a:ext cx="10453370" cy="2548890"/>
          </a:xfrm>
          <a:prstGeom prst="roundRect">
            <a:avLst>
              <a:gd fmla="val 16667" name="adj"/>
            </a:avLst>
          </a:prstGeom>
          <a:solidFill>
            <a:srgbClr val="92CCDC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73"/>
          <p:cNvSpPr/>
          <p:nvPr/>
        </p:nvSpPr>
        <p:spPr>
          <a:xfrm>
            <a:off x="8488045" y="9238615"/>
            <a:ext cx="2311400" cy="105791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73"/>
          <p:cNvSpPr txBox="1"/>
          <p:nvPr/>
        </p:nvSpPr>
        <p:spPr>
          <a:xfrm>
            <a:off x="11679555" y="3524250"/>
            <a:ext cx="9216390" cy="1570943"/>
          </a:xfrm>
          <a:prstGeom prst="rect">
            <a:avLst/>
          </a:prstGeom>
          <a:noFill/>
          <a:ln>
            <a:noFill/>
          </a:ln>
        </p:spPr>
        <p:txBody>
          <a:bodyPr anchorCtr="0" anchor="t" bIns="46350" lIns="89525" spcFirstLastPara="1" rIns="89525" wrap="square" tIns="46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Dut 초기화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Rx 는 idle 상태로 유지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5클럭 동안 대기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초기화 완료 메세지 출력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8" name="Google Shape;748;p73"/>
          <p:cNvSpPr/>
          <p:nvPr/>
        </p:nvSpPr>
        <p:spPr>
          <a:xfrm>
            <a:off x="1297940" y="5637530"/>
            <a:ext cx="6619875" cy="7126605"/>
          </a:xfrm>
          <a:prstGeom prst="frame">
            <a:avLst>
              <a:gd fmla="val 1431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73"/>
          <p:cNvSpPr/>
          <p:nvPr/>
        </p:nvSpPr>
        <p:spPr>
          <a:xfrm>
            <a:off x="11618029" y="8727792"/>
            <a:ext cx="10453370" cy="2548890"/>
          </a:xfrm>
          <a:prstGeom prst="roundRect">
            <a:avLst>
              <a:gd fmla="val 16667" name="adj"/>
            </a:avLst>
          </a:prstGeom>
          <a:solidFill>
            <a:srgbClr val="92CCDC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73"/>
          <p:cNvSpPr txBox="1"/>
          <p:nvPr/>
        </p:nvSpPr>
        <p:spPr>
          <a:xfrm>
            <a:off x="12061190" y="9097010"/>
            <a:ext cx="9216390" cy="1570933"/>
          </a:xfrm>
          <a:prstGeom prst="rect">
            <a:avLst/>
          </a:prstGeom>
          <a:noFill/>
          <a:ln>
            <a:noFill/>
          </a:ln>
        </p:spPr>
        <p:txBody>
          <a:bodyPr anchorCtr="0" anchor="t" bIns="46350" lIns="89525" spcFirstLastPara="1" rIns="89525" wrap="square" tIns="46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 수신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Start bit 전송 rx =0 bit_period 대기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 bit 전송 8비트를 lsb방식으로 전송</a:t>
            </a:r>
            <a:endParaRPr b="0" i="0" sz="24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Stop bit 전송 rx= 1</a:t>
            </a:r>
            <a:endParaRPr/>
          </a:p>
        </p:txBody>
      </p:sp>
      <p:sp>
        <p:nvSpPr>
          <p:cNvPr id="751" name="Google Shape;751;p73"/>
          <p:cNvSpPr/>
          <p:nvPr/>
        </p:nvSpPr>
        <p:spPr>
          <a:xfrm>
            <a:off x="8469794" y="3968407"/>
            <a:ext cx="2311400" cy="105791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2" name="Google Shape;752;p7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756292" y="6072555"/>
            <a:ext cx="5450771" cy="2381835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73"/>
          <p:cNvSpPr/>
          <p:nvPr/>
        </p:nvSpPr>
        <p:spPr>
          <a:xfrm flipH="1" rot="10800000">
            <a:off x="12633736" y="6312333"/>
            <a:ext cx="4282663" cy="306270"/>
          </a:xfrm>
          <a:prstGeom prst="frame">
            <a:avLst>
              <a:gd fmla="val 2207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73"/>
          <p:cNvSpPr/>
          <p:nvPr/>
        </p:nvSpPr>
        <p:spPr>
          <a:xfrm flipH="1" rot="10800000">
            <a:off x="12633736" y="6932581"/>
            <a:ext cx="4282663" cy="306270"/>
          </a:xfrm>
          <a:prstGeom prst="frame">
            <a:avLst>
              <a:gd fmla="val 2207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9" name="Google Shape;759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1" name="Google Shape;761;p7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74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Uart_fifo</a:t>
            </a:r>
            <a:endParaRPr b="0" i="0" sz="4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3" name="Google Shape;763;p7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48000" y="2768600"/>
            <a:ext cx="6325235" cy="9316720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p74"/>
          <p:cNvSpPr/>
          <p:nvPr/>
        </p:nvSpPr>
        <p:spPr>
          <a:xfrm>
            <a:off x="3048000" y="6000115"/>
            <a:ext cx="5084445" cy="6097270"/>
          </a:xfrm>
          <a:prstGeom prst="frame">
            <a:avLst>
              <a:gd fmla="val 1431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74"/>
          <p:cNvSpPr/>
          <p:nvPr/>
        </p:nvSpPr>
        <p:spPr>
          <a:xfrm>
            <a:off x="8726170" y="8190865"/>
            <a:ext cx="2311400" cy="105791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74"/>
          <p:cNvSpPr/>
          <p:nvPr/>
        </p:nvSpPr>
        <p:spPr>
          <a:xfrm>
            <a:off x="11574780" y="7977505"/>
            <a:ext cx="10453370" cy="2548890"/>
          </a:xfrm>
          <a:prstGeom prst="roundRect">
            <a:avLst>
              <a:gd fmla="val 16667" name="adj"/>
            </a:avLst>
          </a:prstGeom>
          <a:solidFill>
            <a:srgbClr val="92CCDC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74"/>
          <p:cNvSpPr txBox="1"/>
          <p:nvPr/>
        </p:nvSpPr>
        <p:spPr>
          <a:xfrm>
            <a:off x="12214311" y="8349454"/>
            <a:ext cx="9216390" cy="1940275"/>
          </a:xfrm>
          <a:prstGeom prst="rect">
            <a:avLst/>
          </a:prstGeom>
          <a:noFill/>
          <a:ln>
            <a:noFill/>
          </a:ln>
        </p:spPr>
        <p:txBody>
          <a:bodyPr anchorCtr="0" anchor="t" bIns="46350" lIns="89525" spcFirstLastPara="1" rIns="89525" wrap="square" tIns="46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8비트 receiveed_byte 선언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하강엣지에서 start bit 감지 후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Bit_period 중간 지점에서 신호를 읽으면서 순서대로 샘플링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수신한 데이터를 새로운 tr에 저장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socreboard로 전송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8" name="Google Shape;768;p7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201400" y="3204751"/>
            <a:ext cx="8839200" cy="3862484"/>
          </a:xfrm>
          <a:prstGeom prst="rect">
            <a:avLst/>
          </a:prstGeom>
          <a:noFill/>
          <a:ln>
            <a:noFill/>
          </a:ln>
        </p:spPr>
      </p:pic>
      <p:sp>
        <p:nvSpPr>
          <p:cNvPr id="769" name="Google Shape;769;p74"/>
          <p:cNvSpPr/>
          <p:nvPr/>
        </p:nvSpPr>
        <p:spPr>
          <a:xfrm flipH="1" rot="10800000">
            <a:off x="11574780" y="5537197"/>
            <a:ext cx="6865620" cy="462917"/>
          </a:xfrm>
          <a:prstGeom prst="frame">
            <a:avLst>
              <a:gd fmla="val 2207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4" name="Google Shape;774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5" name="Google Shape;775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6" name="Google Shape;776;p7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75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Uart_fifo</a:t>
            </a:r>
            <a:endParaRPr b="0" i="0" sz="4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/Users/심재훈/AppData/Roaming/PolarisOffice/ETemp/22012_14482520/image34.png" id="778" name="Google Shape;778;p7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87805" y="2559685"/>
            <a:ext cx="8294370" cy="9841230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75"/>
          <p:cNvSpPr/>
          <p:nvPr/>
        </p:nvSpPr>
        <p:spPr>
          <a:xfrm>
            <a:off x="1774190" y="6142990"/>
            <a:ext cx="8013065" cy="6097270"/>
          </a:xfrm>
          <a:prstGeom prst="frame">
            <a:avLst>
              <a:gd fmla="val 1431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75"/>
          <p:cNvSpPr/>
          <p:nvPr/>
        </p:nvSpPr>
        <p:spPr>
          <a:xfrm>
            <a:off x="9964420" y="8381365"/>
            <a:ext cx="2311400" cy="105791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75"/>
          <p:cNvSpPr/>
          <p:nvPr/>
        </p:nvSpPr>
        <p:spPr>
          <a:xfrm>
            <a:off x="12599035" y="7572375"/>
            <a:ext cx="10453370" cy="2548890"/>
          </a:xfrm>
          <a:prstGeom prst="roundRect">
            <a:avLst>
              <a:gd fmla="val 16667" name="adj"/>
            </a:avLst>
          </a:prstGeom>
          <a:solidFill>
            <a:srgbClr val="92CCDC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75"/>
          <p:cNvSpPr txBox="1"/>
          <p:nvPr/>
        </p:nvSpPr>
        <p:spPr>
          <a:xfrm>
            <a:off x="13037820" y="8108315"/>
            <a:ext cx="9216390" cy="1293495"/>
          </a:xfrm>
          <a:prstGeom prst="rect">
            <a:avLst/>
          </a:prstGeom>
          <a:noFill/>
          <a:ln>
            <a:noFill/>
          </a:ln>
        </p:spPr>
        <p:txBody>
          <a:bodyPr anchorCtr="0" anchor="t" bIns="46350" lIns="89525" spcFirstLastPara="1" rIns="89525" wrap="square" tIns="46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ko-KR" sz="2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gen에서 보낸 tr과 mon에서 보낸 실제 수신 데이터를 가져옴</a:t>
            </a:r>
            <a:endParaRPr b="0" i="0" sz="2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ko-KR" sz="2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두 tr 값이 같으면 display에서 pass가 나오고 pass_count +1</a:t>
            </a:r>
            <a:endParaRPr b="0" i="0" sz="2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ko-KR" sz="2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아닐시 fail display가 나오고 fail_count + 1</a:t>
            </a:r>
            <a:endParaRPr b="0" i="0" sz="2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783" name="Google Shape;783;p7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201400" y="3204751"/>
            <a:ext cx="8839200" cy="3862484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75"/>
          <p:cNvSpPr/>
          <p:nvPr/>
        </p:nvSpPr>
        <p:spPr>
          <a:xfrm flipH="1" rot="10800000">
            <a:off x="11574780" y="5537197"/>
            <a:ext cx="6865620" cy="462917"/>
          </a:xfrm>
          <a:prstGeom prst="frame">
            <a:avLst>
              <a:gd fmla="val 2207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9" name="Google Shape;789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0" name="Google Shape;790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p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76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Uart_fifo</a:t>
            </a:r>
            <a:endParaRPr b="0" i="0" sz="4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/Users/심재훈/AppData/Roaming/PolarisOffice/ETemp/22012_14482520/image35.png" id="793" name="Google Shape;793;p7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95145" y="3395980"/>
            <a:ext cx="7908925" cy="8248650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76"/>
          <p:cNvSpPr/>
          <p:nvPr/>
        </p:nvSpPr>
        <p:spPr>
          <a:xfrm>
            <a:off x="9940290" y="7023735"/>
            <a:ext cx="2311400" cy="105791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76"/>
          <p:cNvSpPr/>
          <p:nvPr/>
        </p:nvSpPr>
        <p:spPr>
          <a:xfrm>
            <a:off x="12432030" y="6429375"/>
            <a:ext cx="10453370" cy="2548890"/>
          </a:xfrm>
          <a:prstGeom prst="roundRect">
            <a:avLst>
              <a:gd fmla="val 16667" name="adj"/>
            </a:avLst>
          </a:prstGeom>
          <a:solidFill>
            <a:srgbClr val="92CCDC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76"/>
          <p:cNvSpPr txBox="1"/>
          <p:nvPr/>
        </p:nvSpPr>
        <p:spPr>
          <a:xfrm>
            <a:off x="12597130" y="7214870"/>
            <a:ext cx="10119995" cy="1231265"/>
          </a:xfrm>
          <a:prstGeom prst="rect">
            <a:avLst/>
          </a:prstGeom>
          <a:noFill/>
          <a:ln>
            <a:noFill/>
          </a:ln>
        </p:spPr>
        <p:txBody>
          <a:bodyPr anchorCtr="0" anchor="t" bIns="46350" lIns="89525" spcFirstLastPara="1" rIns="89525" wrap="square" tIns="46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Generator, Driver, Monitor, Scoreboard를 Environment 안에서 생성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각 컴포넌트 간 연결: Mailbox와 이벤트를 통해 데이터 흐름과 동기화 구성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1" name="Google Shape;801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/Users/심재훈/AppData/Roaming/PolarisOffice/ETemp/22012_14482520/image8.png" id="802" name="Google Shape;802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6135" y="762000"/>
            <a:ext cx="22720935" cy="1220533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7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77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Uart_fifo</a:t>
            </a:r>
            <a:endParaRPr b="0" i="0" sz="4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/Users/심재훈/AppData/Roaming/PolarisOffice/ETemp/22012_14482520/image36.png" id="805" name="Google Shape;805;p7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04365" y="3319780"/>
            <a:ext cx="8422005" cy="8136255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77"/>
          <p:cNvSpPr/>
          <p:nvPr/>
        </p:nvSpPr>
        <p:spPr>
          <a:xfrm>
            <a:off x="1892935" y="8691245"/>
            <a:ext cx="8453755" cy="2739390"/>
          </a:xfrm>
          <a:prstGeom prst="frame">
            <a:avLst>
              <a:gd fmla="val 1431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77"/>
          <p:cNvSpPr/>
          <p:nvPr/>
        </p:nvSpPr>
        <p:spPr>
          <a:xfrm>
            <a:off x="10583545" y="9535795"/>
            <a:ext cx="2311400" cy="105791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77"/>
          <p:cNvSpPr/>
          <p:nvPr/>
        </p:nvSpPr>
        <p:spPr>
          <a:xfrm>
            <a:off x="13265785" y="9166860"/>
            <a:ext cx="4867910" cy="1787525"/>
          </a:xfrm>
          <a:prstGeom prst="roundRect">
            <a:avLst>
              <a:gd fmla="val 16667" name="adj"/>
            </a:avLst>
          </a:prstGeom>
          <a:solidFill>
            <a:srgbClr val="92CCDC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77"/>
          <p:cNvSpPr txBox="1"/>
          <p:nvPr/>
        </p:nvSpPr>
        <p:spPr>
          <a:xfrm>
            <a:off x="13811885" y="9834880"/>
            <a:ext cx="7732395" cy="462280"/>
          </a:xfrm>
          <a:prstGeom prst="rect">
            <a:avLst/>
          </a:prstGeom>
          <a:noFill/>
          <a:ln>
            <a:noFill/>
          </a:ln>
        </p:spPr>
        <p:txBody>
          <a:bodyPr anchorCtr="0" anchor="t" bIns="46350" lIns="89525" spcFirstLastPara="1" rIns="89525" wrap="square" tIns="46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전체 시뮬레이션 결과 출력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77"/>
          <p:cNvSpPr/>
          <p:nvPr/>
        </p:nvSpPr>
        <p:spPr>
          <a:xfrm>
            <a:off x="1905000" y="4476115"/>
            <a:ext cx="3655695" cy="2096770"/>
          </a:xfrm>
          <a:prstGeom prst="frame">
            <a:avLst>
              <a:gd fmla="val 1431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77"/>
          <p:cNvSpPr/>
          <p:nvPr/>
        </p:nvSpPr>
        <p:spPr>
          <a:xfrm>
            <a:off x="10488295" y="7249795"/>
            <a:ext cx="2311400" cy="105791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77"/>
          <p:cNvSpPr/>
          <p:nvPr/>
        </p:nvSpPr>
        <p:spPr>
          <a:xfrm>
            <a:off x="13313410" y="6904990"/>
            <a:ext cx="4867910" cy="1787525"/>
          </a:xfrm>
          <a:prstGeom prst="roundRect">
            <a:avLst>
              <a:gd fmla="val 16667" name="adj"/>
            </a:avLst>
          </a:prstGeom>
          <a:solidFill>
            <a:srgbClr val="92CCDC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77"/>
          <p:cNvSpPr txBox="1"/>
          <p:nvPr/>
        </p:nvSpPr>
        <p:spPr>
          <a:xfrm>
            <a:off x="13832480" y="7381875"/>
            <a:ext cx="7732395" cy="831215"/>
          </a:xfrm>
          <a:prstGeom prst="rect">
            <a:avLst/>
          </a:prstGeom>
          <a:noFill/>
          <a:ln>
            <a:noFill/>
          </a:ln>
        </p:spPr>
        <p:txBody>
          <a:bodyPr anchorCtr="0" anchor="t" bIns="46350" lIns="89525" spcFirstLastPara="1" rIns="89525" wrap="square" tIns="46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Score_Board에서 처리된 tr </a:t>
            </a:r>
            <a:br>
              <a:rPr b="0" i="0" lang="ko-K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ko-K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목표 도달때 까지 대기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77"/>
          <p:cNvSpPr/>
          <p:nvPr/>
        </p:nvSpPr>
        <p:spPr>
          <a:xfrm>
            <a:off x="1905000" y="6715125"/>
            <a:ext cx="6512560" cy="1833880"/>
          </a:xfrm>
          <a:prstGeom prst="frame">
            <a:avLst>
              <a:gd fmla="val 1431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77"/>
          <p:cNvSpPr/>
          <p:nvPr/>
        </p:nvSpPr>
        <p:spPr>
          <a:xfrm>
            <a:off x="6797675" y="4797425"/>
            <a:ext cx="2311400" cy="105791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77"/>
          <p:cNvSpPr/>
          <p:nvPr/>
        </p:nvSpPr>
        <p:spPr>
          <a:xfrm>
            <a:off x="9836785" y="4476115"/>
            <a:ext cx="4867910" cy="1787525"/>
          </a:xfrm>
          <a:prstGeom prst="roundRect">
            <a:avLst>
              <a:gd fmla="val 16667" name="adj"/>
            </a:avLst>
          </a:prstGeom>
          <a:solidFill>
            <a:srgbClr val="92CCDC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77"/>
          <p:cNvSpPr txBox="1"/>
          <p:nvPr/>
        </p:nvSpPr>
        <p:spPr>
          <a:xfrm>
            <a:off x="11177905" y="5137836"/>
            <a:ext cx="7732395" cy="462280"/>
          </a:xfrm>
          <a:prstGeom prst="rect">
            <a:avLst/>
          </a:prstGeom>
          <a:noFill/>
          <a:ln>
            <a:noFill/>
          </a:ln>
        </p:spPr>
        <p:txBody>
          <a:bodyPr anchorCtr="0" anchor="t" bIns="46350" lIns="89525" spcFirstLastPara="1" rIns="89525" wrap="square" tIns="46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 만큼 실행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8" name="Google Shape;818;p7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241967" y="3114294"/>
            <a:ext cx="6715637" cy="2854020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77"/>
          <p:cNvSpPr/>
          <p:nvPr/>
        </p:nvSpPr>
        <p:spPr>
          <a:xfrm>
            <a:off x="15432405" y="3891675"/>
            <a:ext cx="5524654" cy="1833880"/>
          </a:xfrm>
          <a:prstGeom prst="frame">
            <a:avLst>
              <a:gd fmla="val 1431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4" name="Google Shape;824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5" name="Google Shape;825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6" name="Google Shape;826;p7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8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Uart_fifo</a:t>
            </a:r>
            <a:endParaRPr b="0" i="0" sz="4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/Users/심재훈/AppData/Roaming/PolarisOffice/ETemp/22012_14482520/fImage7613165298467.png" id="828" name="Google Shape;828;p7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51990" y="2617470"/>
            <a:ext cx="6513830" cy="9740900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8"/>
          <p:cNvSpPr/>
          <p:nvPr/>
        </p:nvSpPr>
        <p:spPr>
          <a:xfrm>
            <a:off x="2012315" y="7810500"/>
            <a:ext cx="6286500" cy="1238885"/>
          </a:xfrm>
          <a:prstGeom prst="frame">
            <a:avLst>
              <a:gd fmla="val 1431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78"/>
          <p:cNvSpPr/>
          <p:nvPr/>
        </p:nvSpPr>
        <p:spPr>
          <a:xfrm>
            <a:off x="9011920" y="7987665"/>
            <a:ext cx="2311400" cy="105791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78"/>
          <p:cNvSpPr/>
          <p:nvPr/>
        </p:nvSpPr>
        <p:spPr>
          <a:xfrm>
            <a:off x="11812905" y="6324600"/>
            <a:ext cx="10513695" cy="3129280"/>
          </a:xfrm>
          <a:prstGeom prst="roundRect">
            <a:avLst>
              <a:gd fmla="val 16667" name="adj"/>
            </a:avLst>
          </a:prstGeom>
          <a:solidFill>
            <a:srgbClr val="92CCDC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78"/>
          <p:cNvSpPr txBox="1"/>
          <p:nvPr/>
        </p:nvSpPr>
        <p:spPr>
          <a:xfrm>
            <a:off x="12108110" y="6591503"/>
            <a:ext cx="15728315" cy="2678938"/>
          </a:xfrm>
          <a:prstGeom prst="rect">
            <a:avLst/>
          </a:prstGeom>
          <a:noFill/>
          <a:ln>
            <a:noFill/>
          </a:ln>
        </p:spPr>
        <p:txBody>
          <a:bodyPr anchorCtr="0" anchor="t" bIns="46350" lIns="89525" spcFirstLastPara="1" rIns="89525" wrap="square" tIns="46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TX FIFO가 비어 있지 않고, UART가 바쁘지 않으면 전송 준비 완료 상태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tx_ready 신호가 0 → 1로 바뀔 때 한 클럭 동안만 활성화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즉, TX FIFO에서 데이터를 읽는 펄스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RX FIFO에 데이터가 있고, TX FIFO가 가득 차지 않았다면 전송 허용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데이터가 이동 가능한 상태임을 나타냄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78"/>
          <p:cNvSpPr/>
          <p:nvPr/>
        </p:nvSpPr>
        <p:spPr>
          <a:xfrm>
            <a:off x="11908790" y="9620250"/>
            <a:ext cx="8512810" cy="2739390"/>
          </a:xfrm>
          <a:prstGeom prst="roundRect">
            <a:avLst>
              <a:gd fmla="val 16667" name="adj"/>
            </a:avLst>
          </a:prstGeom>
          <a:solidFill>
            <a:srgbClr val="92CCDC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78"/>
          <p:cNvSpPr txBox="1"/>
          <p:nvPr/>
        </p:nvSpPr>
        <p:spPr>
          <a:xfrm>
            <a:off x="12072620" y="10085070"/>
            <a:ext cx="15728315" cy="1938020"/>
          </a:xfrm>
          <a:prstGeom prst="rect">
            <a:avLst/>
          </a:prstGeom>
          <a:noFill/>
          <a:ln>
            <a:noFill/>
          </a:ln>
        </p:spPr>
        <p:txBody>
          <a:bodyPr anchorCtr="0" anchor="t" bIns="46350" lIns="89525" spcFirstLastPara="1" rIns="89525" wrap="square" tIns="463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이전 클럭의 tx_ready 상태를 저장 → 펄스 생성용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read_tx_fifo_pulse를 그대로 전달 → UART 전송 시작 신호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ko-K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transfer_en 신호를 1클럭 지연하여 전달 → 타이밍 안정화</a:t>
            </a:r>
            <a:endParaRPr b="0" i="0" sz="2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5" name="Google Shape;835;p78"/>
          <p:cNvSpPr/>
          <p:nvPr/>
        </p:nvSpPr>
        <p:spPr>
          <a:xfrm>
            <a:off x="2012315" y="9358630"/>
            <a:ext cx="6286500" cy="3000375"/>
          </a:xfrm>
          <a:prstGeom prst="frame">
            <a:avLst>
              <a:gd fmla="val 1431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78"/>
          <p:cNvSpPr/>
          <p:nvPr/>
        </p:nvSpPr>
        <p:spPr>
          <a:xfrm>
            <a:off x="8988425" y="10297795"/>
            <a:ext cx="2311400" cy="105791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1" name="Google Shape;841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2" name="Google Shape;842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3" name="Google Shape;843;p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844" name="Google Shape;844;p79"/>
          <p:cNvSpPr txBox="1"/>
          <p:nvPr/>
        </p:nvSpPr>
        <p:spPr>
          <a:xfrm>
            <a:off x="2006600" y="1054100"/>
            <a:ext cx="29464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Uart_fifo_tb</a:t>
            </a:r>
            <a:endParaRPr b="0" i="0" sz="4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5" name="Google Shape;845;p7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09800" y="2768600"/>
            <a:ext cx="18715355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79"/>
          <p:cNvSpPr txBox="1"/>
          <p:nvPr/>
        </p:nvSpPr>
        <p:spPr>
          <a:xfrm>
            <a:off x="6553200" y="7068751"/>
            <a:ext cx="457200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ko-KR" sz="40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4000" u="none" cap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7" name="Google Shape;847;p79"/>
          <p:cNvSpPr txBox="1"/>
          <p:nvPr/>
        </p:nvSpPr>
        <p:spPr>
          <a:xfrm>
            <a:off x="7948295" y="7091611"/>
            <a:ext cx="457200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ko-KR" sz="40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endParaRPr b="1" i="0" sz="4000" u="none" cap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8" name="Google Shape;848;p79"/>
          <p:cNvSpPr txBox="1"/>
          <p:nvPr/>
        </p:nvSpPr>
        <p:spPr>
          <a:xfrm>
            <a:off x="14860905" y="7109391"/>
            <a:ext cx="457200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ko-KR" sz="40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4000" u="none" cap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49" name="Google Shape;849;p79"/>
          <p:cNvSpPr txBox="1"/>
          <p:nvPr/>
        </p:nvSpPr>
        <p:spPr>
          <a:xfrm>
            <a:off x="9372600" y="7068751"/>
            <a:ext cx="457200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ko-KR" sz="40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1" i="0" sz="4000" u="none" cap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0" name="Google Shape;850;p79"/>
          <p:cNvSpPr txBox="1"/>
          <p:nvPr/>
        </p:nvSpPr>
        <p:spPr>
          <a:xfrm>
            <a:off x="13374370" y="7123996"/>
            <a:ext cx="457200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ko-KR" sz="40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endParaRPr b="1" i="0" sz="4000" u="none" cap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1" name="Google Shape;851;p79"/>
          <p:cNvSpPr txBox="1"/>
          <p:nvPr/>
        </p:nvSpPr>
        <p:spPr>
          <a:xfrm>
            <a:off x="12109450" y="7109391"/>
            <a:ext cx="457200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ko-KR" sz="40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endParaRPr b="1" i="0" sz="4000" u="none" cap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2" name="Google Shape;852;p79"/>
          <p:cNvSpPr txBox="1"/>
          <p:nvPr/>
        </p:nvSpPr>
        <p:spPr>
          <a:xfrm>
            <a:off x="10700385" y="7099866"/>
            <a:ext cx="457200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ko-KR" sz="40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endParaRPr b="1" i="0" sz="4000" u="none" cap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3" name="Google Shape;853;p79"/>
          <p:cNvSpPr txBox="1"/>
          <p:nvPr/>
        </p:nvSpPr>
        <p:spPr>
          <a:xfrm>
            <a:off x="16236315" y="7136696"/>
            <a:ext cx="457200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ko-KR" sz="40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endParaRPr b="1" i="0" sz="4000" u="none" cap="none" strike="noStrike">
              <a:solidFill>
                <a:srgbClr val="FF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4" name="Google Shape;854;p79"/>
          <p:cNvSpPr/>
          <p:nvPr/>
        </p:nvSpPr>
        <p:spPr>
          <a:xfrm>
            <a:off x="7073008" y="8685553"/>
            <a:ext cx="8729663" cy="1419405"/>
          </a:xfrm>
          <a:prstGeom prst="roundRect">
            <a:avLst>
              <a:gd fmla="val 16667" name="adj"/>
            </a:avLst>
          </a:prstGeom>
          <a:solidFill>
            <a:srgbClr val="92CCDC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79"/>
          <p:cNvSpPr txBox="1"/>
          <p:nvPr/>
        </p:nvSpPr>
        <p:spPr>
          <a:xfrm>
            <a:off x="8107092" y="9072089"/>
            <a:ext cx="1341183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algun Gothic"/>
              <a:buNone/>
            </a:pPr>
            <a:r>
              <a:rPr b="0" i="0" lang="ko-KR" sz="36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Data count마다 rx를 가져옴</a:t>
            </a:r>
            <a:endParaRPr b="0" i="0" sz="36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" name="Google Shape;860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1" name="Google Shape;861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5843" y="737286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2" name="Google Shape;862;p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863" name="Google Shape;863;p80"/>
          <p:cNvSpPr txBox="1"/>
          <p:nvPr/>
        </p:nvSpPr>
        <p:spPr>
          <a:xfrm>
            <a:off x="2006600" y="1054100"/>
            <a:ext cx="29464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Uart_fifo_tb</a:t>
            </a:r>
            <a:endParaRPr b="0" i="0" sz="4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4" name="Google Shape;864;p8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28800" y="2896512"/>
            <a:ext cx="18592800" cy="6100580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80"/>
          <p:cNvSpPr/>
          <p:nvPr/>
        </p:nvSpPr>
        <p:spPr>
          <a:xfrm>
            <a:off x="6911546" y="4876799"/>
            <a:ext cx="3832654" cy="3505201"/>
          </a:xfrm>
          <a:prstGeom prst="frame">
            <a:avLst>
              <a:gd fmla="val 1882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80"/>
          <p:cNvSpPr/>
          <p:nvPr/>
        </p:nvSpPr>
        <p:spPr>
          <a:xfrm>
            <a:off x="4114800" y="9200292"/>
            <a:ext cx="13487400" cy="2798168"/>
          </a:xfrm>
          <a:prstGeom prst="roundRect">
            <a:avLst>
              <a:gd fmla="val 16667" name="adj"/>
            </a:avLst>
          </a:prstGeom>
          <a:solidFill>
            <a:srgbClr val="92CCDC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80"/>
          <p:cNvSpPr txBox="1"/>
          <p:nvPr/>
        </p:nvSpPr>
        <p:spPr>
          <a:xfrm>
            <a:off x="5257800" y="9814546"/>
            <a:ext cx="134112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3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~rx_empty &amp;&amp; ~tx_fifo_full 아닐때 transfer_en = 1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3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Tx_ready = 1 read_tx_fifo_pulse = 1 </a:t>
            </a:r>
            <a:endParaRPr b="0" i="0" sz="3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3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start_uart_signal이 동작되면서 tx_fifo_data가 나옴</a:t>
            </a:r>
            <a:endParaRPr b="0" i="0" sz="3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2" name="Google Shape;872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3" name="Google Shape;873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4" name="Google Shape;874;p8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875" name="Google Shape;875;p81"/>
          <p:cNvSpPr txBox="1"/>
          <p:nvPr/>
        </p:nvSpPr>
        <p:spPr>
          <a:xfrm>
            <a:off x="2006600" y="1054100"/>
            <a:ext cx="29464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Uart_fifo_tb</a:t>
            </a:r>
            <a:endParaRPr b="0" i="0" sz="4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81"/>
          <p:cNvSpPr txBox="1"/>
          <p:nvPr/>
        </p:nvSpPr>
        <p:spPr>
          <a:xfrm>
            <a:off x="4038600" y="7829034"/>
            <a:ext cx="134112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7" name="Google Shape;877;p8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76400" y="3593459"/>
            <a:ext cx="20795682" cy="4486568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81"/>
          <p:cNvSpPr/>
          <p:nvPr/>
        </p:nvSpPr>
        <p:spPr>
          <a:xfrm>
            <a:off x="6204808" y="8686800"/>
            <a:ext cx="11625992" cy="2565400"/>
          </a:xfrm>
          <a:prstGeom prst="roundRect">
            <a:avLst>
              <a:gd fmla="val 16667" name="adj"/>
            </a:avLst>
          </a:prstGeom>
          <a:solidFill>
            <a:srgbClr val="92CCDC"/>
          </a:solidFill>
          <a:ln>
            <a:noFill/>
          </a:ln>
          <a:effectLst>
            <a:outerShdw blurRad="40000" rotWithShape="0" dir="5400000" dist="23000">
              <a:srgbClr val="000000">
                <a:alpha val="3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81"/>
          <p:cNvSpPr txBox="1"/>
          <p:nvPr/>
        </p:nvSpPr>
        <p:spPr>
          <a:xfrm>
            <a:off x="6553200" y="9611383"/>
            <a:ext cx="1341120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Malgun Gothic"/>
              <a:buNone/>
            </a:pPr>
            <a:r>
              <a:rPr b="0" i="0" lang="ko-KR" sz="32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Ram에 8개의 데이터 다 쌓인 후 FIFO 방식으로 하나씩 나옴</a:t>
            </a:r>
            <a:endParaRPr b="0" i="0" sz="3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4" name="Google Shape;884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6" name="Google Shape;886;p8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82"/>
          <p:cNvSpPr txBox="1"/>
          <p:nvPr/>
        </p:nvSpPr>
        <p:spPr>
          <a:xfrm>
            <a:off x="2006600" y="1054100"/>
            <a:ext cx="29464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Uart_fifo_tb</a:t>
            </a:r>
            <a:endParaRPr b="0" i="0" sz="4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:/Users/심재훈/AppData/Roaming/PolarisOffice/ETemp/22012_14482520/image41.png" id="888" name="Google Shape;888;p8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1400" y="1022350"/>
            <a:ext cx="3934405" cy="1167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8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337232" y="4943093"/>
            <a:ext cx="8605577" cy="3657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4" name="Google Shape;894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5" name="Google Shape;895;p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5500" y="2743200"/>
            <a:ext cx="22720302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592800" y="2501900"/>
            <a:ext cx="3771900" cy="200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8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02400" y="8242300"/>
            <a:ext cx="3606800" cy="9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83"/>
          <p:cNvSpPr txBox="1"/>
          <p:nvPr/>
        </p:nvSpPr>
        <p:spPr>
          <a:xfrm>
            <a:off x="6781800" y="8509000"/>
            <a:ext cx="3022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b="0" i="0" lang="ko-KR" sz="2399" u="none" cap="none" strike="noStrik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Chapter 1 </a:t>
            </a:r>
            <a:r>
              <a:rPr b="0" i="0" lang="ko-KR" sz="2399" u="none" cap="none" strike="noStrik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키워드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9" name="Google Shape;899;p8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23500" y="8242300"/>
            <a:ext cx="3606800" cy="9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83"/>
          <p:cNvSpPr txBox="1"/>
          <p:nvPr/>
        </p:nvSpPr>
        <p:spPr>
          <a:xfrm>
            <a:off x="10515600" y="8509000"/>
            <a:ext cx="3022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b="0" i="0" lang="ko-KR" sz="2399" u="none" cap="none" strike="noStrik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Chapter 2 </a:t>
            </a:r>
            <a:r>
              <a:rPr b="0" i="0" lang="ko-KR" sz="2399" u="none" cap="none" strike="noStrik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키워드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1" name="Google Shape;901;p8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944600" y="8242300"/>
            <a:ext cx="3606800" cy="9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83"/>
          <p:cNvSpPr txBox="1"/>
          <p:nvPr/>
        </p:nvSpPr>
        <p:spPr>
          <a:xfrm>
            <a:off x="14236700" y="8509000"/>
            <a:ext cx="3022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b="0" i="0" lang="ko-KR" sz="2399" u="none" cap="none" strike="noStrik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Chapter 3 </a:t>
            </a:r>
            <a:r>
              <a:rPr b="0" i="0" lang="ko-KR" sz="2399" u="none" cap="none" strike="noStrik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키워드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3" name="Google Shape;903;p8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2364700" y="9880600"/>
            <a:ext cx="584200" cy="546100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83"/>
          <p:cNvSpPr txBox="1"/>
          <p:nvPr/>
        </p:nvSpPr>
        <p:spPr>
          <a:xfrm>
            <a:off x="1587500" y="5003800"/>
            <a:ext cx="5054700" cy="13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312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33"/>
              <a:buFont typeface="Arial"/>
              <a:buNone/>
            </a:pPr>
            <a:r>
              <a:rPr b="0" i="0" lang="ko-KR" sz="7333" u="none" cap="none" strike="noStrik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PART 6.</a:t>
            </a:r>
            <a:endParaRPr b="0" i="0" sz="7333" u="none" cap="none" strike="noStrike">
              <a:solidFill>
                <a:srgbClr val="0007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83"/>
          <p:cNvSpPr txBox="1"/>
          <p:nvPr/>
        </p:nvSpPr>
        <p:spPr>
          <a:xfrm>
            <a:off x="6502400" y="5003800"/>
            <a:ext cx="138753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75">
            <a:noAutofit/>
          </a:bodyPr>
          <a:lstStyle/>
          <a:p>
            <a:pPr indent="0" lvl="0" marL="0" marR="0" rtl="0" algn="l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998"/>
              <a:buFont typeface="Arial"/>
              <a:buNone/>
            </a:pPr>
            <a:r>
              <a:rPr b="0" i="0" lang="ko-KR" sz="7998" u="none" cap="none" strike="noStrik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 10000_counter simulation</a:t>
            </a:r>
            <a:endParaRPr b="0" i="0" sz="7998" u="none" cap="none" strike="noStrike">
              <a:solidFill>
                <a:srgbClr val="00074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0" name="Google Shape;910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8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84"/>
          <p:cNvSpPr txBox="1"/>
          <p:nvPr/>
        </p:nvSpPr>
        <p:spPr>
          <a:xfrm>
            <a:off x="904800" y="1007750"/>
            <a:ext cx="49341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ko-KR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10000_counter</a:t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4" name="Google Shape;914;p84" title="10000진_블록다이어그램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49176" y="1007751"/>
            <a:ext cx="10646075" cy="1094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9" name="Google Shape;919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" name="Google Shape;921;p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85"/>
          <p:cNvSpPr txBox="1"/>
          <p:nvPr/>
        </p:nvSpPr>
        <p:spPr>
          <a:xfrm>
            <a:off x="904800" y="1007750"/>
            <a:ext cx="49341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ko-KR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10000_counter</a:t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3" name="Google Shape;923;p8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2600" y="2565400"/>
            <a:ext cx="4726299" cy="10364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8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58000" y="3838575"/>
            <a:ext cx="16002000" cy="603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9" name="Google Shape;929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86"/>
          <p:cNvSpPr txBox="1"/>
          <p:nvPr/>
        </p:nvSpPr>
        <p:spPr>
          <a:xfrm>
            <a:off x="904800" y="1007750"/>
            <a:ext cx="49341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ko-KR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10000_counter</a:t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3" name="Google Shape;933;p8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85904" y="2763029"/>
            <a:ext cx="21567502" cy="806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8" name="Google Shape;938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0" name="Google Shape;940;p8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87"/>
          <p:cNvSpPr txBox="1"/>
          <p:nvPr/>
        </p:nvSpPr>
        <p:spPr>
          <a:xfrm>
            <a:off x="904800" y="1007750"/>
            <a:ext cx="49341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ko-KR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10000_counter</a:t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2" name="Google Shape;942;p8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28129" y="2676725"/>
            <a:ext cx="20527752" cy="996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7" name="Google Shape;947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8" name="Google Shape;948;p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9" name="Google Shape;949;p8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88"/>
          <p:cNvSpPr txBox="1"/>
          <p:nvPr/>
        </p:nvSpPr>
        <p:spPr>
          <a:xfrm>
            <a:off x="904800" y="1007750"/>
            <a:ext cx="49341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ko-KR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10000_counter</a:t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1" name="Google Shape;951;p8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53091" y="2669754"/>
            <a:ext cx="21090523" cy="1011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6" name="Google Shape;956;p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7" name="Google Shape;957;p8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8" name="Google Shape;958;p8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89"/>
          <p:cNvSpPr txBox="1"/>
          <p:nvPr/>
        </p:nvSpPr>
        <p:spPr>
          <a:xfrm>
            <a:off x="904800" y="1007750"/>
            <a:ext cx="49341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ko-KR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10000_counter</a:t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0" name="Google Shape;960;p8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85900" y="2716300"/>
            <a:ext cx="21509349" cy="9258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5" name="Google Shape;965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9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90"/>
          <p:cNvSpPr txBox="1"/>
          <p:nvPr/>
        </p:nvSpPr>
        <p:spPr>
          <a:xfrm>
            <a:off x="904800" y="1007750"/>
            <a:ext cx="49341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ko-KR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10000_counter</a:t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9" name="Google Shape;969;p9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85900" y="2682775"/>
            <a:ext cx="21496250" cy="1004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4" name="Google Shape;974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9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91"/>
          <p:cNvSpPr txBox="1"/>
          <p:nvPr/>
        </p:nvSpPr>
        <p:spPr>
          <a:xfrm>
            <a:off x="904800" y="1007750"/>
            <a:ext cx="49341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ko-KR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10000_counter</a:t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8" name="Google Shape;978;p9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85904" y="2565404"/>
            <a:ext cx="21496251" cy="9918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oogle Shape;983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5" name="Google Shape;985;p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92"/>
          <p:cNvSpPr txBox="1"/>
          <p:nvPr/>
        </p:nvSpPr>
        <p:spPr>
          <a:xfrm>
            <a:off x="904800" y="1007750"/>
            <a:ext cx="49341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ko-KR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10000_counter</a:t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7" name="Google Shape;987;p9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85900" y="2565404"/>
            <a:ext cx="21470076" cy="979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2" name="Google Shape;992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3" name="Google Shape;993;p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299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4" name="Google Shape;994;p9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93"/>
          <p:cNvSpPr txBox="1"/>
          <p:nvPr/>
        </p:nvSpPr>
        <p:spPr>
          <a:xfrm>
            <a:off x="904800" y="1007750"/>
            <a:ext cx="4934100" cy="8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ko-KR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10000_counter</a:t>
            </a:r>
            <a:endParaRPr b="0" i="0" sz="3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6" name="Google Shape;996;p9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85900" y="2565400"/>
            <a:ext cx="21757998" cy="960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1" name="Google Shape;1001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2" name="Google Shape;1002;p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5500" y="2743200"/>
            <a:ext cx="22720302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3" name="Google Shape;1003;p9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592800" y="2501900"/>
            <a:ext cx="3771900" cy="200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4" name="Google Shape;1004;p9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02400" y="8242300"/>
            <a:ext cx="3606800" cy="9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5" name="Google Shape;1005;p94"/>
          <p:cNvSpPr txBox="1"/>
          <p:nvPr/>
        </p:nvSpPr>
        <p:spPr>
          <a:xfrm>
            <a:off x="6781800" y="8509000"/>
            <a:ext cx="3022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b="0" i="0" lang="ko-KR" sz="2399" u="none" cap="none" strike="noStrik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Chapter 1 </a:t>
            </a:r>
            <a:r>
              <a:rPr b="0" i="0" lang="ko-KR" sz="2399" u="none" cap="none" strike="noStrik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키워드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6" name="Google Shape;1006;p9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23500" y="8242300"/>
            <a:ext cx="3606800" cy="9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7" name="Google Shape;1007;p94"/>
          <p:cNvSpPr txBox="1"/>
          <p:nvPr/>
        </p:nvSpPr>
        <p:spPr>
          <a:xfrm>
            <a:off x="10515600" y="8509000"/>
            <a:ext cx="3022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b="0" i="0" lang="ko-KR" sz="2399" u="none" cap="none" strike="noStrik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Chapter 2 </a:t>
            </a:r>
            <a:r>
              <a:rPr b="0" i="0" lang="ko-KR" sz="2399" u="none" cap="none" strike="noStrik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키워드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8" name="Google Shape;1008;p9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944600" y="8242300"/>
            <a:ext cx="3606800" cy="9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9" name="Google Shape;1009;p94"/>
          <p:cNvSpPr txBox="1"/>
          <p:nvPr/>
        </p:nvSpPr>
        <p:spPr>
          <a:xfrm>
            <a:off x="14236700" y="8509000"/>
            <a:ext cx="3022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47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9"/>
              <a:buFont typeface="Arial"/>
              <a:buNone/>
            </a:pPr>
            <a:r>
              <a:rPr b="0" i="0" lang="ko-KR" sz="2399" u="none" cap="none" strike="noStrik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Chapter 3 </a:t>
            </a:r>
            <a:r>
              <a:rPr b="0" i="0" lang="ko-KR" sz="2399" u="none" cap="none" strike="noStrike">
                <a:solidFill>
                  <a:srgbClr val="00074E"/>
                </a:solidFill>
                <a:latin typeface="Calibri"/>
                <a:ea typeface="Calibri"/>
                <a:cs typeface="Calibri"/>
                <a:sym typeface="Calibri"/>
              </a:rPr>
              <a:t>키워드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0" name="Google Shape;1010;p9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2364700" y="9880600"/>
            <a:ext cx="584200" cy="54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1" name="Google Shape;1011;p94"/>
          <p:cNvSpPr txBox="1"/>
          <p:nvPr/>
        </p:nvSpPr>
        <p:spPr>
          <a:xfrm>
            <a:off x="1587500" y="5003800"/>
            <a:ext cx="5054700" cy="13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3125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33"/>
              <a:buFont typeface="Arial"/>
              <a:buNone/>
            </a:pPr>
            <a:r>
              <a:rPr b="0" i="0" lang="ko-KR" sz="7333" u="none" cap="none" strike="noStrik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PART 7.</a:t>
            </a:r>
            <a:endParaRPr b="0" i="0" sz="7333" u="none" cap="none" strike="noStrike">
              <a:solidFill>
                <a:srgbClr val="00074E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94"/>
          <p:cNvSpPr txBox="1"/>
          <p:nvPr/>
        </p:nvSpPr>
        <p:spPr>
          <a:xfrm>
            <a:off x="6502400" y="5003800"/>
            <a:ext cx="138753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7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ko-KR" sz="6000" u="none" cap="none" strike="noStrike">
                <a:solidFill>
                  <a:srgbClr val="00074E"/>
                </a:solidFill>
                <a:latin typeface="Arial"/>
                <a:ea typeface="Arial"/>
                <a:cs typeface="Arial"/>
                <a:sym typeface="Arial"/>
              </a:rPr>
              <a:t>Trouble Shooting</a:t>
            </a:r>
            <a:endParaRPr b="0" i="0" sz="6000" u="none" cap="none" strike="noStrike">
              <a:solidFill>
                <a:srgbClr val="00074E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8" name="Google Shape;1018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9" name="Google Shape;1019;p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0" name="Google Shape;1020;p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1" name="Google Shape;1021;p95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트러블슈팅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2" name="Google Shape;1022;p9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33373" y="2886437"/>
            <a:ext cx="3967902" cy="8630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23" name="Google Shape;1023;p95"/>
          <p:cNvSpPr txBox="1"/>
          <p:nvPr/>
        </p:nvSpPr>
        <p:spPr>
          <a:xfrm>
            <a:off x="13986274" y="6718012"/>
            <a:ext cx="928647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ko-KR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Gen과 Drv의 나오는 tx_data값 타이밍 밀림</a:t>
            </a:r>
            <a:endParaRPr b="0" i="0" sz="3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024" name="Google Shape;1024;p9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77000" y="4168399"/>
            <a:ext cx="6620799" cy="5391902"/>
          </a:xfrm>
          <a:prstGeom prst="rect">
            <a:avLst/>
          </a:prstGeom>
          <a:noFill/>
          <a:ln>
            <a:noFill/>
          </a:ln>
        </p:spPr>
      </p:pic>
      <p:sp>
        <p:nvSpPr>
          <p:cNvPr id="1025" name="Google Shape;1025;p95"/>
          <p:cNvSpPr/>
          <p:nvPr/>
        </p:nvSpPr>
        <p:spPr>
          <a:xfrm>
            <a:off x="13335000" y="5562600"/>
            <a:ext cx="9525000" cy="2895600"/>
          </a:xfrm>
          <a:prstGeom prst="frame">
            <a:avLst>
              <a:gd fmla="val 8233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Google Shape;1030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1" name="Google Shape;1031;p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53762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Google Shape;1032;p9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3" name="Google Shape;1033;p9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09295" y="2358891"/>
            <a:ext cx="6335009" cy="931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4" name="Google Shape;1034;p9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00800" y="4908726"/>
            <a:ext cx="6506483" cy="4258269"/>
          </a:xfrm>
          <a:prstGeom prst="rect">
            <a:avLst/>
          </a:prstGeom>
          <a:noFill/>
          <a:ln>
            <a:noFill/>
          </a:ln>
        </p:spPr>
      </p:pic>
      <p:sp>
        <p:nvSpPr>
          <p:cNvPr id="1035" name="Google Shape;1035;p96"/>
          <p:cNvSpPr txBox="1"/>
          <p:nvPr/>
        </p:nvSpPr>
        <p:spPr>
          <a:xfrm>
            <a:off x="1774252" y="961891"/>
            <a:ext cx="32512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Malgun Gothic"/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트러블슈팅(2)</a:t>
            </a:r>
            <a:endParaRPr b="0" i="0" sz="4000" u="none" cap="none" strike="noStrik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6" name="Google Shape;1036;p96"/>
          <p:cNvSpPr txBox="1"/>
          <p:nvPr/>
        </p:nvSpPr>
        <p:spPr>
          <a:xfrm>
            <a:off x="15097524" y="6724898"/>
            <a:ext cx="9286476" cy="584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ko-KR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Tr.display 부분 위치변경</a:t>
            </a:r>
            <a:endParaRPr b="0" i="0" sz="3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7" name="Google Shape;1037;p96"/>
          <p:cNvSpPr/>
          <p:nvPr/>
        </p:nvSpPr>
        <p:spPr>
          <a:xfrm>
            <a:off x="14037276" y="5968314"/>
            <a:ext cx="7352270" cy="2248929"/>
          </a:xfrm>
          <a:prstGeom prst="frame">
            <a:avLst>
              <a:gd fmla="val 8233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3" name="Google Shape;1043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4" name="Google Shape;1044;p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5" name="Google Shape;1045;p9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97"/>
          <p:cNvSpPr txBox="1"/>
          <p:nvPr/>
        </p:nvSpPr>
        <p:spPr>
          <a:xfrm>
            <a:off x="2006600" y="1054100"/>
            <a:ext cx="27559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트러블슈팅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7" name="Google Shape;1047;p9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14600" y="2755900"/>
            <a:ext cx="4306330" cy="8908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8" name="Google Shape;1048;p9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74892" y="4635411"/>
            <a:ext cx="6630325" cy="4105848"/>
          </a:xfrm>
          <a:prstGeom prst="rect">
            <a:avLst/>
          </a:prstGeom>
          <a:noFill/>
          <a:ln>
            <a:noFill/>
          </a:ln>
        </p:spPr>
      </p:pic>
      <p:sp>
        <p:nvSpPr>
          <p:cNvPr id="1049" name="Google Shape;1049;p97"/>
          <p:cNvSpPr txBox="1"/>
          <p:nvPr/>
        </p:nvSpPr>
        <p:spPr>
          <a:xfrm>
            <a:off x="10763679" y="10269204"/>
            <a:ext cx="9286476" cy="584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ko-KR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MON과 SCB에 tx_data = xx</a:t>
            </a:r>
            <a:endParaRPr b="0" i="0" sz="3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0" name="Google Shape;1050;p97"/>
          <p:cNvSpPr/>
          <p:nvPr/>
        </p:nvSpPr>
        <p:spPr>
          <a:xfrm>
            <a:off x="9738651" y="9406179"/>
            <a:ext cx="8512279" cy="2036178"/>
          </a:xfrm>
          <a:prstGeom prst="frame">
            <a:avLst>
              <a:gd fmla="val 8233" name="adj1"/>
            </a:avLst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6" name="Google Shape;1056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400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7" name="Google Shape;1057;p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762000"/>
            <a:ext cx="22720300" cy="1220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8" name="Google Shape;1058;p9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9" name="Google Shape;1059;p98"/>
          <p:cNvSpPr txBox="1"/>
          <p:nvPr/>
        </p:nvSpPr>
        <p:spPr>
          <a:xfrm>
            <a:off x="1746250" y="838200"/>
            <a:ext cx="3251200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075">
            <a:noAutofit/>
          </a:bodyPr>
          <a:lstStyle/>
          <a:p>
            <a:pPr indent="0" lvl="0" marL="0" marR="0" rtl="0" algn="ct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0" i="0" lang="ko-KR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트러블슈팅(2)</a:t>
            </a:r>
            <a:endParaRPr b="0" i="0" sz="4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0" name="Google Shape;1060;p9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19800" y="2918187"/>
            <a:ext cx="6369269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1" name="Google Shape;1061;p9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713943" y="2057399"/>
            <a:ext cx="7973538" cy="5202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2" name="Google Shape;1062;p9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3713943" y="7216489"/>
            <a:ext cx="7973538" cy="40963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3" name="Google Shape;1063;p9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71426" y="2977273"/>
            <a:ext cx="3200847" cy="8335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5E5FF"/>
        </a:solidFill>
      </p:bgPr>
    </p:bg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8" name="Google Shape;1068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400" y="6858000"/>
            <a:ext cx="24409398" cy="689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9" name="Google Shape;1069;p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150" y="793115"/>
            <a:ext cx="22720302" cy="12204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0" name="Google Shape;1070;p9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122900" y="558800"/>
            <a:ext cx="3771900" cy="200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99"/>
          <p:cNvSpPr txBox="1"/>
          <p:nvPr/>
        </p:nvSpPr>
        <p:spPr>
          <a:xfrm>
            <a:off x="21348700" y="12636500"/>
            <a:ext cx="22224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noAutofit/>
          </a:bodyPr>
          <a:lstStyle/>
          <a:p>
            <a:pPr indent="0" lvl="0" marL="0" marR="0" rtl="0" algn="r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9"/>
              <a:buFont typeface="Arial"/>
              <a:buNone/>
            </a:pPr>
            <a:r>
              <a:t/>
            </a:r>
            <a:endParaRPr b="0" i="0" sz="19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2" name="Google Shape;1072;p9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364700" y="11785600"/>
            <a:ext cx="584200" cy="54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3" name="Google Shape;1073;p99"/>
          <p:cNvSpPr txBox="1"/>
          <p:nvPr/>
        </p:nvSpPr>
        <p:spPr>
          <a:xfrm>
            <a:off x="5497650" y="4404000"/>
            <a:ext cx="13388700" cy="49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00"/>
              <a:buFont typeface="Arial"/>
              <a:buNone/>
            </a:pPr>
            <a:r>
              <a:rPr b="1" i="0" lang="ko-KR" sz="1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1" i="0" sz="13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